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4"/>
  </p:notesMasterIdLst>
  <p:sldIdLst>
    <p:sldId id="257" r:id="rId2"/>
    <p:sldId id="265" r:id="rId3"/>
    <p:sldId id="258" r:id="rId4"/>
    <p:sldId id="295" r:id="rId5"/>
    <p:sldId id="294" r:id="rId6"/>
    <p:sldId id="271" r:id="rId7"/>
    <p:sldId id="292" r:id="rId8"/>
    <p:sldId id="276" r:id="rId9"/>
    <p:sldId id="289" r:id="rId10"/>
    <p:sldId id="290" r:id="rId11"/>
    <p:sldId id="277" r:id="rId12"/>
    <p:sldId id="281" r:id="rId13"/>
    <p:sldId id="298" r:id="rId14"/>
    <p:sldId id="297" r:id="rId15"/>
    <p:sldId id="272" r:id="rId16"/>
    <p:sldId id="275" r:id="rId17"/>
    <p:sldId id="296" r:id="rId18"/>
    <p:sldId id="273" r:id="rId19"/>
    <p:sldId id="288" r:id="rId20"/>
    <p:sldId id="283" r:id="rId21"/>
    <p:sldId id="291" r:id="rId22"/>
    <p:sldId id="26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383A8F-E38C-4AE5-B1B6-87346DC2F5E8}" v="17" dt="2025-09-12T05:46:45.5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105" d="100"/>
          <a:sy n="105" d="100"/>
        </p:scale>
        <p:origin x="82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6B10E9-643D-4269-B02E-69469D457253}" type="datetimeFigureOut">
              <a:rPr lang="en-IN" smtClean="0"/>
              <a:t>31-10-2025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0BDC6-2A55-497B-932E-E24C25ECC7E9}" type="slidenum">
              <a:rPr lang="en-IN" smtClean="0"/>
              <a:t>‹#›</a:t>
            </a:fld>
            <a:endParaRPr lang="en-IN"/>
          </a:p>
        </p:txBody>
      </p:sp>
    </p:spTree>
    <p:extLst>
      <p:ext uri="{BB962C8B-B14F-4D97-AF65-F5344CB8AC3E}">
        <p14:creationId xmlns:p14="http://schemas.microsoft.com/office/powerpoint/2010/main" val="3936360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0D273890-CCAF-1E5B-18FA-ED8C29E2E71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447C1599-DDB7-4763-A91A-375990326E49}" type="slidenum">
              <a:rPr lang="en-IN" altLang="en-US" sz="1400" smtClean="0"/>
              <a:pPr fontAlgn="base">
                <a:spcBef>
                  <a:spcPct val="0"/>
                </a:spcBef>
                <a:spcAft>
                  <a:spcPct val="0"/>
                </a:spcAft>
              </a:pPr>
              <a:t>1</a:t>
            </a:fld>
            <a:endParaRPr lang="en-IN" altLang="en-US" sz="1400"/>
          </a:p>
        </p:txBody>
      </p:sp>
      <p:sp>
        <p:nvSpPr>
          <p:cNvPr id="7171" name="Rectangle 1">
            <a:extLst>
              <a:ext uri="{FF2B5EF4-FFF2-40B4-BE49-F238E27FC236}">
                <a16:creationId xmlns:a16="http://schemas.microsoft.com/office/drawing/2014/main" id="{D5D1E99B-2428-1DAE-C60C-B3AE73D3212D}"/>
              </a:ext>
            </a:extLst>
          </p:cNvPr>
          <p:cNvSpPr>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2" name="Rectangle 2">
            <a:extLst>
              <a:ext uri="{FF2B5EF4-FFF2-40B4-BE49-F238E27FC236}">
                <a16:creationId xmlns:a16="http://schemas.microsoft.com/office/drawing/2014/main" id="{92D7E466-71E1-47DD-BF96-021C5FC02878}"/>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A87C492A-4F82-95F3-B993-EF03A109B0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B1CB1FBC-BF49-4F11-ADAC-D756F6C10EA8}" type="slidenum">
              <a:rPr lang="en-IN" altLang="en-US" sz="1400" smtClean="0"/>
              <a:pPr fontAlgn="base">
                <a:spcBef>
                  <a:spcPct val="0"/>
                </a:spcBef>
                <a:spcAft>
                  <a:spcPct val="0"/>
                </a:spcAft>
              </a:pPr>
              <a:t>2</a:t>
            </a:fld>
            <a:endParaRPr lang="en-IN" altLang="en-US" sz="1400"/>
          </a:p>
        </p:txBody>
      </p:sp>
      <p:sp>
        <p:nvSpPr>
          <p:cNvPr id="9219" name="Rectangle 1">
            <a:extLst>
              <a:ext uri="{FF2B5EF4-FFF2-40B4-BE49-F238E27FC236}">
                <a16:creationId xmlns:a16="http://schemas.microsoft.com/office/drawing/2014/main" id="{861BCA17-53D5-C7DA-AA0D-74E0703773D6}"/>
              </a:ext>
            </a:extLst>
          </p:cNvPr>
          <p:cNvSpPr>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0" name="Rectangle 2">
            <a:extLst>
              <a:ext uri="{FF2B5EF4-FFF2-40B4-BE49-F238E27FC236}">
                <a16:creationId xmlns:a16="http://schemas.microsoft.com/office/drawing/2014/main" id="{00D2010F-72DC-D17A-9C3A-39329D71A84C}"/>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8A90263F-A3CB-144C-D69F-4FB17941E28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5FBDBC80-CA53-4685-B341-2AEF88E8449C}" type="slidenum">
              <a:rPr lang="en-IN" altLang="en-US" sz="1400" smtClean="0"/>
              <a:pPr fontAlgn="base">
                <a:spcBef>
                  <a:spcPct val="0"/>
                </a:spcBef>
                <a:spcAft>
                  <a:spcPct val="0"/>
                </a:spcAft>
              </a:pPr>
              <a:t>3</a:t>
            </a:fld>
            <a:endParaRPr lang="en-IN" altLang="en-US" sz="1400"/>
          </a:p>
        </p:txBody>
      </p:sp>
      <p:sp>
        <p:nvSpPr>
          <p:cNvPr id="11267" name="Rectangle 1">
            <a:extLst>
              <a:ext uri="{FF2B5EF4-FFF2-40B4-BE49-F238E27FC236}">
                <a16:creationId xmlns:a16="http://schemas.microsoft.com/office/drawing/2014/main" id="{2F5B6F3B-7027-163A-E26D-2E0BD3DA389E}"/>
              </a:ext>
            </a:extLst>
          </p:cNvPr>
          <p:cNvSpPr>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F3F10982-BCC5-3C12-8B62-E6FEBAC59F0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5AF1D51-0F4B-47FC-1D91-930B27CF7B77}"/>
            </a:ext>
          </a:extLst>
        </p:cNvPr>
        <p:cNvGrpSpPr/>
        <p:nvPr/>
      </p:nvGrpSpPr>
      <p:grpSpPr>
        <a:xfrm>
          <a:off x="0" y="0"/>
          <a:ext cx="0" cy="0"/>
          <a:chOff x="0" y="0"/>
          <a:chExt cx="0" cy="0"/>
        </a:xfrm>
      </p:grpSpPr>
      <p:sp>
        <p:nvSpPr>
          <p:cNvPr id="11266" name="Rectangle 6">
            <a:extLst>
              <a:ext uri="{FF2B5EF4-FFF2-40B4-BE49-F238E27FC236}">
                <a16:creationId xmlns:a16="http://schemas.microsoft.com/office/drawing/2014/main" id="{E7CF4BC2-9875-ACE0-9B43-0E0DBFAB757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5FBDBC80-CA53-4685-B341-2AEF88E8449C}" type="slidenum">
              <a:rPr lang="en-IN" altLang="en-US" sz="1400" smtClean="0"/>
              <a:pPr fontAlgn="base">
                <a:spcBef>
                  <a:spcPct val="0"/>
                </a:spcBef>
                <a:spcAft>
                  <a:spcPct val="0"/>
                </a:spcAft>
              </a:pPr>
              <a:t>6</a:t>
            </a:fld>
            <a:endParaRPr lang="en-IN" altLang="en-US" sz="1400"/>
          </a:p>
        </p:txBody>
      </p:sp>
      <p:sp>
        <p:nvSpPr>
          <p:cNvPr id="11267" name="Rectangle 1">
            <a:extLst>
              <a:ext uri="{FF2B5EF4-FFF2-40B4-BE49-F238E27FC236}">
                <a16:creationId xmlns:a16="http://schemas.microsoft.com/office/drawing/2014/main" id="{6A79D49B-853E-0605-9DF8-DB1356DD80F1}"/>
              </a:ext>
            </a:extLst>
          </p:cNvPr>
          <p:cNvSpPr>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6663F8F8-694B-D4DF-DEB6-9A215AC55A98}"/>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716591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40BDC6-2A55-497B-932E-E24C25ECC7E9}" type="slidenum">
              <a:rPr lang="en-IN" smtClean="0"/>
              <a:t>9</a:t>
            </a:fld>
            <a:endParaRPr lang="en-IN"/>
          </a:p>
        </p:txBody>
      </p:sp>
    </p:spTree>
    <p:extLst>
      <p:ext uri="{BB962C8B-B14F-4D97-AF65-F5344CB8AC3E}">
        <p14:creationId xmlns:p14="http://schemas.microsoft.com/office/powerpoint/2010/main" val="3323841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0998721-9AEF-0DB0-7549-B05D4E0535F1}"/>
            </a:ext>
          </a:extLst>
        </p:cNvPr>
        <p:cNvGrpSpPr/>
        <p:nvPr/>
      </p:nvGrpSpPr>
      <p:grpSpPr>
        <a:xfrm>
          <a:off x="0" y="0"/>
          <a:ext cx="0" cy="0"/>
          <a:chOff x="0" y="0"/>
          <a:chExt cx="0" cy="0"/>
        </a:xfrm>
      </p:grpSpPr>
      <p:sp>
        <p:nvSpPr>
          <p:cNvPr id="11266" name="Rectangle 6">
            <a:extLst>
              <a:ext uri="{FF2B5EF4-FFF2-40B4-BE49-F238E27FC236}">
                <a16:creationId xmlns:a16="http://schemas.microsoft.com/office/drawing/2014/main" id="{BD17E22F-4996-9F61-30E5-5E1BB9DA09E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5FBDBC80-CA53-4685-B341-2AEF88E8449C}" type="slidenum">
              <a:rPr lang="en-IN" altLang="en-US" sz="1400" smtClean="0"/>
              <a:pPr fontAlgn="base">
                <a:spcBef>
                  <a:spcPct val="0"/>
                </a:spcBef>
                <a:spcAft>
                  <a:spcPct val="0"/>
                </a:spcAft>
              </a:pPr>
              <a:t>15</a:t>
            </a:fld>
            <a:endParaRPr lang="en-IN" altLang="en-US" sz="1400"/>
          </a:p>
        </p:txBody>
      </p:sp>
      <p:sp>
        <p:nvSpPr>
          <p:cNvPr id="11267" name="Rectangle 1">
            <a:extLst>
              <a:ext uri="{FF2B5EF4-FFF2-40B4-BE49-F238E27FC236}">
                <a16:creationId xmlns:a16="http://schemas.microsoft.com/office/drawing/2014/main" id="{8297CE8F-554F-A33A-35FB-65BAE1C05E76}"/>
              </a:ext>
            </a:extLst>
          </p:cNvPr>
          <p:cNvSpPr>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B798D051-87DB-7C05-DB3F-905A0B725BD8}"/>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9381511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B675A4-D481-FF56-D306-BCC54842B063}"/>
            </a:ext>
          </a:extLst>
        </p:cNvPr>
        <p:cNvGrpSpPr/>
        <p:nvPr/>
      </p:nvGrpSpPr>
      <p:grpSpPr>
        <a:xfrm>
          <a:off x="0" y="0"/>
          <a:ext cx="0" cy="0"/>
          <a:chOff x="0" y="0"/>
          <a:chExt cx="0" cy="0"/>
        </a:xfrm>
      </p:grpSpPr>
      <p:sp>
        <p:nvSpPr>
          <p:cNvPr id="11266" name="Rectangle 6">
            <a:extLst>
              <a:ext uri="{FF2B5EF4-FFF2-40B4-BE49-F238E27FC236}">
                <a16:creationId xmlns:a16="http://schemas.microsoft.com/office/drawing/2014/main" id="{0D76F7FE-1EB7-A3FD-9AD7-94BD60FEDB8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5FBDBC80-CA53-4685-B341-2AEF88E8449C}" type="slidenum">
              <a:rPr lang="en-IN" altLang="en-US" sz="1400" smtClean="0"/>
              <a:pPr fontAlgn="base">
                <a:spcBef>
                  <a:spcPct val="0"/>
                </a:spcBef>
                <a:spcAft>
                  <a:spcPct val="0"/>
                </a:spcAft>
              </a:pPr>
              <a:t>18</a:t>
            </a:fld>
            <a:endParaRPr lang="en-IN" altLang="en-US" sz="1400"/>
          </a:p>
        </p:txBody>
      </p:sp>
      <p:sp>
        <p:nvSpPr>
          <p:cNvPr id="11267" name="Rectangle 1">
            <a:extLst>
              <a:ext uri="{FF2B5EF4-FFF2-40B4-BE49-F238E27FC236}">
                <a16:creationId xmlns:a16="http://schemas.microsoft.com/office/drawing/2014/main" id="{17C8146D-3F5E-583C-2058-4F8028799176}"/>
              </a:ext>
            </a:extLst>
          </p:cNvPr>
          <p:cNvSpPr>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2130935E-ED07-8FF0-9950-141936536483}"/>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643258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6F5F59A9-FB33-DA5D-5942-E612B35ACA8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0B4B2BA8-4730-44EA-832C-4365638E1B72}" type="slidenum">
              <a:rPr lang="en-IN" altLang="en-US" sz="1400" smtClean="0">
                <a:cs typeface="DejaVu Sans" panose="020B0603030804020204" pitchFamily="34" charset="0"/>
              </a:rPr>
              <a:pPr fontAlgn="base">
                <a:spcBef>
                  <a:spcPct val="0"/>
                </a:spcBef>
                <a:spcAft>
                  <a:spcPct val="0"/>
                </a:spcAft>
              </a:pPr>
              <a:t>22</a:t>
            </a:fld>
            <a:endParaRPr lang="en-IN" altLang="en-US" sz="1400">
              <a:cs typeface="DejaVu Sans" panose="020B0603030804020204" pitchFamily="34" charset="0"/>
            </a:endParaRPr>
          </a:p>
        </p:txBody>
      </p:sp>
      <p:sp>
        <p:nvSpPr>
          <p:cNvPr id="30723" name="Rectangle 1">
            <a:extLst>
              <a:ext uri="{FF2B5EF4-FFF2-40B4-BE49-F238E27FC236}">
                <a16:creationId xmlns:a16="http://schemas.microsoft.com/office/drawing/2014/main" id="{D2BAD657-8C82-261D-87B9-1865934635EC}"/>
              </a:ext>
            </a:extLst>
          </p:cNvPr>
          <p:cNvSpPr>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4" name="Rectangle 2">
            <a:extLst>
              <a:ext uri="{FF2B5EF4-FFF2-40B4-BE49-F238E27FC236}">
                <a16:creationId xmlns:a16="http://schemas.microsoft.com/office/drawing/2014/main" id="{2DBEA7A5-5646-18C9-A02E-FE5864F76D3E}"/>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2C02BB-FC4F-49B4-AA49-BCD8D4575105}"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825051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2C02BB-FC4F-49B4-AA49-BCD8D4575105}"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357574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2C02BB-FC4F-49B4-AA49-BCD8D4575105}"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3684824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2C02BB-FC4F-49B4-AA49-BCD8D4575105}"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1865520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2C02BB-FC4F-49B4-AA49-BCD8D4575105}" type="datetimeFigureOut">
              <a:rPr lang="en-IN" smtClean="0"/>
              <a:t>31-10-2025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2140743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2C02BB-FC4F-49B4-AA49-BCD8D4575105}" type="datetimeFigureOut">
              <a:rPr lang="en-IN" smtClean="0"/>
              <a:t>31-10-2025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4104711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C02BB-FC4F-49B4-AA49-BCD8D4575105}" type="datetimeFigureOut">
              <a:rPr lang="en-IN" smtClean="0"/>
              <a:t>31-10-2025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1922114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2C02BB-FC4F-49B4-AA49-BCD8D4575105}"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187659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FBFE8-CDBE-4525-BA61-45CD42DBE076}" type="slidenum">
              <a:rPr lang="en-IN" smtClean="0"/>
              <a:t>‹#›</a:t>
            </a:fld>
            <a:endParaRPr lang="en-IN"/>
          </a:p>
        </p:txBody>
      </p:sp>
      <p:sp>
        <p:nvSpPr>
          <p:cNvPr id="5" name="Date Placeholder 4"/>
          <p:cNvSpPr>
            <a:spLocks noGrp="1"/>
          </p:cNvSpPr>
          <p:nvPr>
            <p:ph type="dt" sz="half" idx="10"/>
          </p:nvPr>
        </p:nvSpPr>
        <p:spPr/>
        <p:txBody>
          <a:bodyPr/>
          <a:lstStyle/>
          <a:p>
            <a:fld id="{5B2C02BB-FC4F-49B4-AA49-BCD8D4575105}" type="datetimeFigureOut">
              <a:rPr lang="en-IN" smtClean="0"/>
              <a:t>31-10-2025</a:t>
            </a:fld>
            <a:endParaRPr lang="en-IN"/>
          </a:p>
        </p:txBody>
      </p:sp>
    </p:spTree>
    <p:extLst>
      <p:ext uri="{BB962C8B-B14F-4D97-AF65-F5344CB8AC3E}">
        <p14:creationId xmlns:p14="http://schemas.microsoft.com/office/powerpoint/2010/main" val="122436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2C02BB-FC4F-49B4-AA49-BCD8D4575105}"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41845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2C02BB-FC4F-49B4-AA49-BCD8D4575105}"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FBFE8-CDBE-4525-BA61-45CD42DBE07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64461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2C02BB-FC4F-49B4-AA49-BCD8D4575105}"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17797890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2C02BB-FC4F-49B4-AA49-BCD8D4575105}"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FBFE8-CDBE-4525-BA61-45CD42DBE07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91903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2C02BB-FC4F-49B4-AA49-BCD8D4575105}"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1595439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2C02BB-FC4F-49B4-AA49-BCD8D4575105}"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2478015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2C02BB-FC4F-49B4-AA49-BCD8D4575105}"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FBFE8-CDBE-4525-BA61-45CD42DBE076}" type="slidenum">
              <a:rPr lang="en-IN" smtClean="0"/>
              <a:t>‹#›</a:t>
            </a:fld>
            <a:endParaRPr lang="en-IN"/>
          </a:p>
        </p:txBody>
      </p:sp>
    </p:spTree>
    <p:extLst>
      <p:ext uri="{BB962C8B-B14F-4D97-AF65-F5344CB8AC3E}">
        <p14:creationId xmlns:p14="http://schemas.microsoft.com/office/powerpoint/2010/main" val="2507523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2C02BB-FC4F-49B4-AA49-BCD8D4575105}" type="datetimeFigureOut">
              <a:rPr lang="en-IN" smtClean="0"/>
              <a:t>31-10-2025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63FBFE8-CDBE-4525-BA61-45CD42DBE076}" type="slidenum">
              <a:rPr lang="en-IN" smtClean="0"/>
              <a:t>‹#›</a:t>
            </a:fld>
            <a:endParaRPr lang="en-IN"/>
          </a:p>
        </p:txBody>
      </p:sp>
    </p:spTree>
    <p:extLst>
      <p:ext uri="{BB962C8B-B14F-4D97-AF65-F5344CB8AC3E}">
        <p14:creationId xmlns:p14="http://schemas.microsoft.com/office/powerpoint/2010/main" val="106587627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FF687901-5132-2CFF-588B-2FD4AB8BF32D}"/>
              </a:ext>
            </a:extLst>
          </p:cNvPr>
          <p:cNvSpPr>
            <a:spLocks noChangeArrowheads="1"/>
          </p:cNvSpPr>
          <p:nvPr/>
        </p:nvSpPr>
        <p:spPr bwMode="auto">
          <a:xfrm>
            <a:off x="1981488" y="1788114"/>
            <a:ext cx="8229024" cy="4572344"/>
          </a:xfrm>
          <a:prstGeom prst="rect">
            <a:avLst/>
          </a:prstGeom>
          <a:noFill/>
          <a:ln>
            <a:noFill/>
          </a:ln>
          <a:effectLst/>
        </p:spPr>
        <p:txBody>
          <a:bodyPr lIns="0" tIns="2874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a:defRPr/>
            </a:pPr>
            <a:r>
              <a:rPr lang="en-GB" altLang="en-US" sz="40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Smart Labs Using Raspberry Pi &amp; Machine Learning</a:t>
            </a:r>
            <a:endParaRPr lang="en-IN" altLang="en-US" sz="40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defRPr/>
            </a:pPr>
            <a:endParaRPr lang="en-IN" altLang="en-US" sz="40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defRPr/>
            </a:pPr>
            <a:r>
              <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Karan </a:t>
            </a:r>
            <a:r>
              <a:rPr lang="en-IN" altLang="en-US" sz="2400" b="1"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Vethody</a:t>
            </a:r>
            <a:r>
              <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22106023</a:t>
            </a:r>
          </a:p>
          <a:p>
            <a:pPr algn="ctr">
              <a:defRPr/>
            </a:pPr>
            <a:r>
              <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Jay Patil             22106020</a:t>
            </a:r>
          </a:p>
          <a:p>
            <a:pPr algn="ctr">
              <a:defRPr/>
            </a:pPr>
            <a:r>
              <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Vedant Vethekar22106090</a:t>
            </a:r>
          </a:p>
          <a:p>
            <a:pPr algn="ctr">
              <a:defRPr/>
            </a:pPr>
            <a:endParaRPr lang="en-IN" alt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defRPr/>
            </a:pPr>
            <a:endParaRPr lang="en-IN" alt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defRPr/>
            </a:pPr>
            <a:endParaRPr lang="en-IN" altLang="en-US"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defRPr/>
            </a:pPr>
            <a:r>
              <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Guide</a:t>
            </a:r>
          </a:p>
          <a:p>
            <a:pPr algn="ctr">
              <a:defRPr/>
            </a:pPr>
            <a:r>
              <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Prof. Shraddha Dalvi </a:t>
            </a:r>
            <a:endParaRPr lang="en-IN" altLang="en-US" sz="1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9CAA5485-26D1-A0BE-D942-7D28C1B91781}"/>
              </a:ext>
            </a:extLst>
          </p:cNvPr>
          <p:cNvCxnSpPr/>
          <p:nvPr/>
        </p:nvCxnSpPr>
        <p:spPr>
          <a:xfrm>
            <a:off x="1523520" y="1714962"/>
            <a:ext cx="9144960"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6148" name="Picture 3">
            <a:extLst>
              <a:ext uri="{FF2B5EF4-FFF2-40B4-BE49-F238E27FC236}">
                <a16:creationId xmlns:a16="http://schemas.microsoft.com/office/drawing/2014/main" id="{037AF60B-9A3B-2884-FB2D-7608ACE832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3163" y="336995"/>
            <a:ext cx="6990494" cy="124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BB98BDFC-6608-CE25-1628-B3790545F55B}"/>
              </a:ext>
            </a:extLst>
          </p:cNvPr>
          <p:cNvSpPr>
            <a:spLocks noChangeArrowheads="1"/>
          </p:cNvSpPr>
          <p:nvPr/>
        </p:nvSpPr>
        <p:spPr bwMode="auto">
          <a:xfrm>
            <a:off x="0" y="407600"/>
            <a:ext cx="4277700" cy="959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874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266" b="1" dirty="0">
                <a:solidFill>
                  <a:srgbClr val="000000"/>
                </a:solidFill>
                <a:latin typeface="Times New Roman" panose="02020603050405020304" pitchFamily="18" charset="0"/>
                <a:cs typeface="DejaVu Sans" charset="0"/>
              </a:rPr>
              <a:t>Outline</a:t>
            </a:r>
          </a:p>
        </p:txBody>
      </p:sp>
      <p:sp>
        <p:nvSpPr>
          <p:cNvPr id="8195" name="Rectangle 2">
            <a:extLst>
              <a:ext uri="{FF2B5EF4-FFF2-40B4-BE49-F238E27FC236}">
                <a16:creationId xmlns:a16="http://schemas.microsoft.com/office/drawing/2014/main" id="{6CAB69C5-567C-B5F8-FB4E-05070E87E0E0}"/>
              </a:ext>
            </a:extLst>
          </p:cNvPr>
          <p:cNvSpPr>
            <a:spLocks noChangeArrowheads="1"/>
          </p:cNvSpPr>
          <p:nvPr/>
        </p:nvSpPr>
        <p:spPr bwMode="auto">
          <a:xfrm>
            <a:off x="1386693" y="1179002"/>
            <a:ext cx="7675011" cy="6026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9269"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marL="414000" indent="-457200" algn="just">
              <a:lnSpc>
                <a:spcPct val="150000"/>
              </a:lnSpc>
              <a:buFont typeface="+mj-lt"/>
              <a:buAutoNum type="arabicPeriod"/>
            </a:pPr>
            <a:r>
              <a:rPr lang="en-IN" altLang="en-US" b="1" dirty="0">
                <a:latin typeface="Times New Roman" panose="02020603050405020304" pitchFamily="18" charset="0"/>
                <a:cs typeface="Times New Roman" panose="02020603050405020304" pitchFamily="18" charset="0"/>
              </a:rPr>
              <a:t>Introduction</a:t>
            </a:r>
          </a:p>
          <a:p>
            <a:pPr marL="414000" indent="-457200" algn="just">
              <a:lnSpc>
                <a:spcPct val="150000"/>
              </a:lnSpc>
              <a:buFont typeface="+mj-lt"/>
              <a:buAutoNum type="arabicPeriod"/>
            </a:pPr>
            <a:r>
              <a:rPr lang="en-IN" altLang="en-US" b="1" dirty="0">
                <a:latin typeface="Times New Roman" panose="02020603050405020304" pitchFamily="18" charset="0"/>
                <a:cs typeface="Times New Roman" panose="02020603050405020304" pitchFamily="18" charset="0"/>
              </a:rPr>
              <a:t>Problem Statement</a:t>
            </a:r>
          </a:p>
          <a:p>
            <a:pPr marL="414000" indent="-457200" algn="just">
              <a:lnSpc>
                <a:spcPct val="150000"/>
              </a:lnSpc>
              <a:buFont typeface="+mj-lt"/>
              <a:buAutoNum type="arabicPeriod"/>
            </a:pPr>
            <a:r>
              <a:rPr lang="en-IN" altLang="en-US" b="1" dirty="0">
                <a:latin typeface="Times New Roman" panose="02020603050405020304" pitchFamily="18" charset="0"/>
                <a:cs typeface="Times New Roman" panose="02020603050405020304" pitchFamily="18" charset="0"/>
              </a:rPr>
              <a:t>Objectives</a:t>
            </a:r>
          </a:p>
          <a:p>
            <a:pPr marL="414000" indent="-457200" algn="just">
              <a:lnSpc>
                <a:spcPct val="150000"/>
              </a:lnSpc>
              <a:buFont typeface="+mj-lt"/>
              <a:buAutoNum type="arabicPeriod"/>
            </a:pPr>
            <a:r>
              <a:rPr lang="en-IN" altLang="en-US" b="1" dirty="0">
                <a:latin typeface="Times New Roman" panose="02020603050405020304" pitchFamily="18" charset="0"/>
                <a:cs typeface="Times New Roman" panose="02020603050405020304" pitchFamily="18" charset="0"/>
              </a:rPr>
              <a:t>Features</a:t>
            </a:r>
          </a:p>
          <a:p>
            <a:pPr marL="414000" indent="-457200" algn="just">
              <a:lnSpc>
                <a:spcPct val="150000"/>
              </a:lnSpc>
              <a:buFont typeface="+mj-lt"/>
              <a:buAutoNum type="arabicPeriod"/>
            </a:pPr>
            <a:r>
              <a:rPr lang="en-IN" altLang="en-US" b="1" dirty="0">
                <a:latin typeface="Times New Roman" panose="02020603050405020304" pitchFamily="18" charset="0"/>
                <a:cs typeface="Times New Roman" panose="02020603050405020304" pitchFamily="18" charset="0"/>
              </a:rPr>
              <a:t>Block diagram</a:t>
            </a:r>
          </a:p>
          <a:p>
            <a:pPr marL="414000" indent="-457200" algn="just">
              <a:lnSpc>
                <a:spcPct val="150000"/>
              </a:lnSpc>
              <a:buFont typeface="+mj-lt"/>
              <a:buAutoNum type="arabicPeriod"/>
            </a:pPr>
            <a:r>
              <a:rPr lang="en-IN" altLang="en-US" b="1" dirty="0">
                <a:latin typeface="Times New Roman" panose="02020603050405020304" pitchFamily="18" charset="0"/>
                <a:cs typeface="Times New Roman" panose="02020603050405020304" pitchFamily="18" charset="0"/>
              </a:rPr>
              <a:t>Literature survey</a:t>
            </a:r>
          </a:p>
          <a:p>
            <a:pPr marL="414000" indent="-457200" algn="just">
              <a:lnSpc>
                <a:spcPct val="150000"/>
              </a:lnSpc>
              <a:buFont typeface="+mj-lt"/>
              <a:buAutoNum type="arabicPeriod"/>
            </a:pPr>
            <a:r>
              <a:rPr lang="en-IN" altLang="en-US" b="1" dirty="0">
                <a:latin typeface="Times New Roman" panose="02020603050405020304" pitchFamily="18" charset="0"/>
                <a:cs typeface="Times New Roman" panose="02020603050405020304" pitchFamily="18" charset="0"/>
              </a:rPr>
              <a:t>Limitations of existing system</a:t>
            </a:r>
          </a:p>
          <a:p>
            <a:pPr marL="414000" indent="-457200" algn="just">
              <a:lnSpc>
                <a:spcPct val="150000"/>
              </a:lnSpc>
              <a:buFont typeface="+mj-lt"/>
              <a:buAutoNum type="arabicPeriod"/>
            </a:pPr>
            <a:r>
              <a:rPr lang="en-IN" altLang="en-US" b="1" dirty="0">
                <a:latin typeface="Times New Roman" panose="02020603050405020304" pitchFamily="18" charset="0"/>
                <a:cs typeface="Times New Roman" panose="02020603050405020304" pitchFamily="18" charset="0"/>
              </a:rPr>
              <a:t>Implementation</a:t>
            </a:r>
          </a:p>
          <a:p>
            <a:pPr marL="414000" indent="-457200" algn="just">
              <a:lnSpc>
                <a:spcPct val="150000"/>
              </a:lnSpc>
              <a:buFont typeface="+mj-lt"/>
              <a:buAutoNum type="arabicPeriod"/>
            </a:pPr>
            <a:r>
              <a:rPr lang="en-US" altLang="en-US" b="1" dirty="0">
                <a:latin typeface="Times New Roman" panose="02020603050405020304" pitchFamily="18" charset="0"/>
                <a:cs typeface="Times New Roman" panose="02020603050405020304" pitchFamily="18" charset="0"/>
              </a:rPr>
              <a:t>Uniqueness</a:t>
            </a:r>
          </a:p>
          <a:p>
            <a:pPr marL="414000" indent="-457200" algn="just">
              <a:lnSpc>
                <a:spcPct val="150000"/>
              </a:lnSpc>
              <a:buFont typeface="+mj-lt"/>
              <a:buAutoNum type="arabicPeriod"/>
            </a:pPr>
            <a:r>
              <a:rPr lang="en-US" altLang="en-US" b="1" dirty="0">
                <a:latin typeface="Times New Roman" panose="02020603050405020304" pitchFamily="18" charset="0"/>
                <a:cs typeface="Times New Roman" panose="02020603050405020304" pitchFamily="18" charset="0"/>
              </a:rPr>
              <a:t>Technologies Stack</a:t>
            </a:r>
          </a:p>
          <a:p>
            <a:pPr marL="414000" indent="-457200" algn="just">
              <a:lnSpc>
                <a:spcPct val="150000"/>
              </a:lnSpc>
              <a:buFont typeface="+mj-lt"/>
              <a:buAutoNum type="arabicPeriod"/>
            </a:pPr>
            <a:r>
              <a:rPr lang="en-US" altLang="en-US" b="1" dirty="0">
                <a:latin typeface="Times New Roman" panose="02020603050405020304" pitchFamily="18" charset="0"/>
                <a:cs typeface="Times New Roman" panose="02020603050405020304" pitchFamily="18" charset="0"/>
              </a:rPr>
              <a:t>SDG Goal Alignment</a:t>
            </a:r>
          </a:p>
          <a:p>
            <a:pPr marL="414000" indent="-457200" algn="just">
              <a:lnSpc>
                <a:spcPct val="150000"/>
              </a:lnSpc>
              <a:buFont typeface="+mj-lt"/>
              <a:buAutoNum type="arabicPeriod"/>
            </a:pPr>
            <a:r>
              <a:rPr lang="en-US" altLang="en-US" b="1" dirty="0">
                <a:latin typeface="Times New Roman" panose="02020603050405020304" pitchFamily="18" charset="0"/>
                <a:cs typeface="Times New Roman" panose="02020603050405020304" pitchFamily="18" charset="0"/>
              </a:rPr>
              <a:t>Future work</a:t>
            </a:r>
          </a:p>
          <a:p>
            <a:pPr marL="414000" indent="-457200" algn="just">
              <a:lnSpc>
                <a:spcPct val="150000"/>
              </a:lnSpc>
              <a:buFont typeface="+mj-lt"/>
              <a:buAutoNum type="arabicPeriod"/>
            </a:pPr>
            <a:r>
              <a:rPr lang="en-US" altLang="en-US" b="1" dirty="0">
                <a:latin typeface="Times New Roman" panose="02020603050405020304" pitchFamily="18" charset="0"/>
                <a:cs typeface="Times New Roman" panose="02020603050405020304" pitchFamily="18" charset="0"/>
              </a:rPr>
              <a:t>References</a:t>
            </a:r>
          </a:p>
          <a:p>
            <a:pPr marL="414000" indent="0" algn="just">
              <a:lnSpc>
                <a:spcPct val="150000"/>
              </a:lnSpc>
            </a:pPr>
            <a:endParaRPr lang="en-US" altLang="en-US" b="1" dirty="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2890A8D8-5FC8-B51C-F18F-0D1D89D31CF9}"/>
              </a:ext>
            </a:extLst>
          </p:cNvPr>
          <p:cNvSpPr>
            <a:spLocks noChangeArrowheads="1"/>
          </p:cNvSpPr>
          <p:nvPr/>
        </p:nvSpPr>
        <p:spPr bwMode="auto">
          <a:xfrm>
            <a:off x="1070068" y="465985"/>
            <a:ext cx="8229024" cy="1144921"/>
          </a:xfrm>
          <a:prstGeom prst="rect">
            <a:avLst/>
          </a:prstGeom>
          <a:noFill/>
          <a:ln>
            <a:noFill/>
          </a:ln>
          <a:effectLst/>
        </p:spPr>
        <p:txBody>
          <a:bodyPr lIns="0" tIns="2874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altLang="en-US" sz="3629"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Introduction</a:t>
            </a:r>
            <a:endParaRPr lang="en-IN" altLang="en-US" sz="3266"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10243" name="Content Placeholder 2">
            <a:extLst>
              <a:ext uri="{FF2B5EF4-FFF2-40B4-BE49-F238E27FC236}">
                <a16:creationId xmlns:a16="http://schemas.microsoft.com/office/drawing/2014/main" id="{242FB77E-98C4-59B4-27D0-F16232D5D1AA}"/>
              </a:ext>
            </a:extLst>
          </p:cNvPr>
          <p:cNvSpPr txBox="1">
            <a:spLocks noChangeArrowheads="1"/>
          </p:cNvSpPr>
          <p:nvPr/>
        </p:nvSpPr>
        <p:spPr bwMode="auto">
          <a:xfrm>
            <a:off x="1070068" y="1435524"/>
            <a:ext cx="9160609" cy="502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lvl="0" algn="just">
              <a:buClrTx/>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Traditional labs waste 60-70% energy on unnecessary lighting when spaces are unoccupied.</a:t>
            </a:r>
          </a:p>
          <a:p>
            <a:pPr lvl="0" algn="just">
              <a:buClrTx/>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Manual control leads to inefficiency and forgotten lights running continuously.</a:t>
            </a:r>
          </a:p>
          <a:p>
            <a:pPr lvl="0" algn="just">
              <a:buClrTx/>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Rising energy costs and environmental concerns demand intelligent solutions.</a:t>
            </a:r>
          </a:p>
          <a:p>
            <a:pPr lvl="0" algn="just">
              <a:buClrTx/>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Need for smart, automated systems that respond to actual occupancy.</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496AA-AE16-6783-D59E-4F260D33711E}"/>
              </a:ext>
            </a:extLst>
          </p:cNvPr>
          <p:cNvSpPr>
            <a:spLocks noGrp="1"/>
          </p:cNvSpPr>
          <p:nvPr>
            <p:ph type="title"/>
          </p:nvPr>
        </p:nvSpPr>
        <p:spPr>
          <a:xfrm>
            <a:off x="677334" y="609600"/>
            <a:ext cx="8596668" cy="597408"/>
          </a:xfrm>
        </p:spPr>
        <p:txBody>
          <a:bodyPr/>
          <a:lstStyle/>
          <a:p>
            <a:pPr>
              <a:defRPr/>
            </a:pPr>
            <a:r>
              <a:rPr lang="en-IN" altLang="en-US" sz="3266"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 Problem statement </a:t>
            </a:r>
            <a:endParaRPr lang="en-IN" sz="3266"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endParaRPr>
          </a:p>
        </p:txBody>
      </p:sp>
      <p:sp>
        <p:nvSpPr>
          <p:cNvPr id="3" name="Content Placeholder 2">
            <a:extLst>
              <a:ext uri="{FF2B5EF4-FFF2-40B4-BE49-F238E27FC236}">
                <a16:creationId xmlns:a16="http://schemas.microsoft.com/office/drawing/2014/main" id="{E95366D0-797B-9D11-E8BE-CF89AD2512C5}"/>
              </a:ext>
            </a:extLst>
          </p:cNvPr>
          <p:cNvSpPr>
            <a:spLocks noGrp="1"/>
          </p:cNvSpPr>
          <p:nvPr>
            <p:ph idx="1"/>
          </p:nvPr>
        </p:nvSpPr>
        <p:spPr>
          <a:xfrm>
            <a:off x="677334" y="1600009"/>
            <a:ext cx="9015306" cy="4343591"/>
          </a:xfrm>
        </p:spPr>
        <p:txBody>
          <a:bodyPr/>
          <a:lstStyle/>
          <a:p>
            <a:pPr marL="0" indent="0">
              <a:buNone/>
            </a:pPr>
            <a:r>
              <a:rPr lang="en-IN" sz="1600" dirty="0">
                <a:solidFill>
                  <a:schemeClr val="tx1"/>
                </a:solidFill>
                <a:latin typeface="Times New Roman" panose="02020603050405020304" pitchFamily="18" charset="0"/>
                <a:cs typeface="Times New Roman" panose="02020603050405020304" pitchFamily="18" charset="0"/>
              </a:rPr>
              <a:t>College computer labs often suffer from inefficient resource utilization, inconsistent environmental control, and high energy consumption due to static scheduling and manual operation. These labs are typically used by students in unpredictable patterns—varying by time of day, academic calendar, and course requirements. Traditional systems lack the intelligence to adapt to these dynamic usage patterns, leading to:</a:t>
            </a:r>
          </a:p>
          <a:p>
            <a:pPr>
              <a:buClrTx/>
              <a:buFont typeface="Wingdings" panose="05000000000000000000" pitchFamily="2" charset="2"/>
              <a:buChar char="§"/>
            </a:pPr>
            <a:r>
              <a:rPr lang="en-IN" sz="1600" dirty="0">
                <a:solidFill>
                  <a:schemeClr val="tx1"/>
                </a:solidFill>
                <a:latin typeface="Times New Roman" panose="02020603050405020304" pitchFamily="18" charset="0"/>
                <a:cs typeface="Times New Roman" panose="02020603050405020304" pitchFamily="18" charset="0"/>
              </a:rPr>
              <a:t>Computers and peripherals running idle during off-peak hours</a:t>
            </a:r>
          </a:p>
          <a:p>
            <a:pPr>
              <a:buClrTx/>
              <a:buFont typeface="Wingdings" panose="05000000000000000000" pitchFamily="2" charset="2"/>
              <a:buChar char="§"/>
            </a:pPr>
            <a:r>
              <a:rPr lang="en-IN" sz="1600" dirty="0">
                <a:solidFill>
                  <a:schemeClr val="tx1"/>
                </a:solidFill>
                <a:latin typeface="Times New Roman" panose="02020603050405020304" pitchFamily="18" charset="0"/>
                <a:cs typeface="Times New Roman" panose="02020603050405020304" pitchFamily="18" charset="0"/>
              </a:rPr>
              <a:t>HVAC and lighting systems operating uniformly across zones regardless of occupancy</a:t>
            </a:r>
          </a:p>
          <a:p>
            <a:pPr>
              <a:buClrTx/>
              <a:buFont typeface="Wingdings" panose="05000000000000000000" pitchFamily="2" charset="2"/>
              <a:buChar char="§"/>
            </a:pPr>
            <a:r>
              <a:rPr lang="en-IN" sz="1600" dirty="0">
                <a:solidFill>
                  <a:schemeClr val="tx1"/>
                </a:solidFill>
                <a:latin typeface="Times New Roman" panose="02020603050405020304" pitchFamily="18" charset="0"/>
                <a:cs typeface="Times New Roman" panose="02020603050405020304" pitchFamily="18" charset="0"/>
              </a:rPr>
              <a:t>Difficulty in monitoring and optimizing lab usage across multiple rooms or buildings</a:t>
            </a:r>
          </a:p>
          <a:p>
            <a:pPr marL="0" indent="0" algn="just" defTabSz="829544">
              <a:spcBef>
                <a:spcPct val="20000"/>
              </a:spcBef>
              <a:buClrTx/>
              <a:buSzTx/>
              <a:buNone/>
              <a:defRPr/>
            </a:pPr>
            <a:endParaRPr lang="en-GB" altLang="en-US" sz="2177" b="1" dirty="0">
              <a:solidFill>
                <a:prstClr val="black"/>
              </a:solidFill>
              <a:latin typeface="Source Sans Pro"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92F0E-BFD6-DB0A-6800-77FE9DF5B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748DA-6AFE-E129-CDE5-215599E13D74}"/>
              </a:ext>
            </a:extLst>
          </p:cNvPr>
          <p:cNvSpPr>
            <a:spLocks noGrp="1"/>
          </p:cNvSpPr>
          <p:nvPr>
            <p:ph type="title"/>
          </p:nvPr>
        </p:nvSpPr>
        <p:spPr/>
        <p:txBody>
          <a:bodyPr/>
          <a:lstStyle/>
          <a:p>
            <a:r>
              <a:rPr lang="en-IN"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E5C9D4B3-5F26-77AD-D285-B875D9F00AC7}"/>
              </a:ext>
            </a:extLst>
          </p:cNvPr>
          <p:cNvSpPr>
            <a:spLocks noGrp="1"/>
          </p:cNvSpPr>
          <p:nvPr>
            <p:ph idx="1"/>
          </p:nvPr>
        </p:nvSpPr>
        <p:spPr>
          <a:xfrm>
            <a:off x="677334" y="1488396"/>
            <a:ext cx="9902273" cy="4007148"/>
          </a:xfrm>
        </p:spPr>
        <p:txBody>
          <a:bodyPr>
            <a:normAutofit/>
          </a:bodyPr>
          <a:lstStyle/>
          <a:p>
            <a:pPr lvl="0">
              <a:buClrTx/>
              <a:buFont typeface="Wingdings" panose="05000000000000000000" pitchFamily="2" charset="2"/>
              <a:buChar char="§"/>
            </a:pPr>
            <a:r>
              <a:rPr lang="en-IN" sz="1600" dirty="0">
                <a:solidFill>
                  <a:schemeClr val="tx1"/>
                </a:solidFill>
                <a:latin typeface="Times New Roman" panose="02020603050405020304" pitchFamily="18" charset="0"/>
                <a:cs typeface="Times New Roman" panose="02020603050405020304" pitchFamily="18" charset="0"/>
              </a:rPr>
              <a:t>To implement zonal segmentation of computer labs based on layout, usage density, and equipment clusters</a:t>
            </a:r>
          </a:p>
          <a:p>
            <a:pPr lvl="0">
              <a:buClrTx/>
              <a:buFont typeface="Wingdings" panose="05000000000000000000" pitchFamily="2" charset="2"/>
              <a:buChar char="§"/>
            </a:pPr>
            <a:r>
              <a:rPr lang="en-IN" sz="1600" dirty="0">
                <a:solidFill>
                  <a:schemeClr val="tx1"/>
                </a:solidFill>
                <a:latin typeface="Times New Roman" panose="02020603050405020304" pitchFamily="18" charset="0"/>
                <a:cs typeface="Times New Roman" panose="02020603050405020304" pitchFamily="18" charset="0"/>
              </a:rPr>
              <a:t>To deploy sensors and data collection mechanisms to monitor occupancy, temperature, and device usage</a:t>
            </a:r>
          </a:p>
          <a:p>
            <a:pPr lvl="0">
              <a:buClrTx/>
              <a:buFont typeface="Wingdings" panose="05000000000000000000" pitchFamily="2" charset="2"/>
              <a:buChar char="§"/>
            </a:pPr>
            <a:r>
              <a:rPr lang="en-IN" sz="1600" dirty="0">
                <a:solidFill>
                  <a:schemeClr val="tx1"/>
                </a:solidFill>
                <a:latin typeface="Times New Roman" panose="02020603050405020304" pitchFamily="18" charset="0"/>
                <a:cs typeface="Times New Roman" panose="02020603050405020304" pitchFamily="18" charset="0"/>
              </a:rPr>
              <a:t>To develop ML models to predict lab usage patterns and automate control decisions</a:t>
            </a:r>
          </a:p>
          <a:p>
            <a:pPr lvl="0">
              <a:buClrTx/>
              <a:buFont typeface="Wingdings" panose="05000000000000000000" pitchFamily="2" charset="2"/>
              <a:buChar char="§"/>
            </a:pPr>
            <a:r>
              <a:rPr lang="en-IN" sz="1600" dirty="0">
                <a:solidFill>
                  <a:schemeClr val="tx1"/>
                </a:solidFill>
                <a:latin typeface="Times New Roman" panose="02020603050405020304" pitchFamily="18" charset="0"/>
                <a:cs typeface="Times New Roman" panose="02020603050405020304" pitchFamily="18" charset="0"/>
              </a:rPr>
              <a:t>To optimize energy consumption by selectively powering zones based on real-time and forecasted demand </a:t>
            </a:r>
          </a:p>
          <a:p>
            <a:pPr lvl="0">
              <a:buClrTx/>
              <a:buFont typeface="Wingdings" panose="05000000000000000000" pitchFamily="2" charset="2"/>
              <a:buChar char="§"/>
            </a:pPr>
            <a:r>
              <a:rPr lang="en-IN" sz="1600" dirty="0">
                <a:solidFill>
                  <a:schemeClr val="tx1"/>
                </a:solidFill>
                <a:latin typeface="Times New Roman" panose="02020603050405020304" pitchFamily="18" charset="0"/>
                <a:cs typeface="Times New Roman" panose="02020603050405020304" pitchFamily="18" charset="0"/>
              </a:rPr>
              <a:t>To improve student experience and comfort through adaptive lighting and climate control</a:t>
            </a:r>
          </a:p>
          <a:p>
            <a:pPr lvl="0">
              <a:buClrTx/>
              <a:buFont typeface="Wingdings" panose="05000000000000000000" pitchFamily="2" charset="2"/>
              <a:buChar char="§"/>
            </a:pPr>
            <a:r>
              <a:rPr lang="en-IN" sz="1600" dirty="0">
                <a:solidFill>
                  <a:schemeClr val="tx1"/>
                </a:solidFill>
                <a:latin typeface="Times New Roman" panose="02020603050405020304" pitchFamily="18" charset="0"/>
                <a:cs typeface="Times New Roman" panose="02020603050405020304" pitchFamily="18" charset="0"/>
              </a:rPr>
              <a:t>To enable centralized monitoring and analytics for lab administrators to assess usage and performance.</a:t>
            </a:r>
          </a:p>
        </p:txBody>
      </p:sp>
    </p:spTree>
    <p:extLst>
      <p:ext uri="{BB962C8B-B14F-4D97-AF65-F5344CB8AC3E}">
        <p14:creationId xmlns:p14="http://schemas.microsoft.com/office/powerpoint/2010/main" val="3750796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9E5A-AE5B-6E0B-4F0F-60D4F5DB1CAE}"/>
            </a:ext>
          </a:extLst>
        </p:cNvPr>
        <p:cNvGrpSpPr/>
        <p:nvPr/>
      </p:nvGrpSpPr>
      <p:grpSpPr>
        <a:xfrm>
          <a:off x="0" y="0"/>
          <a:ext cx="0" cy="0"/>
          <a:chOff x="0" y="0"/>
          <a:chExt cx="0" cy="0"/>
        </a:xfrm>
      </p:grpSpPr>
      <p:sp>
        <p:nvSpPr>
          <p:cNvPr id="8194" name="Rectangle 1">
            <a:extLst>
              <a:ext uri="{FF2B5EF4-FFF2-40B4-BE49-F238E27FC236}">
                <a16:creationId xmlns:a16="http://schemas.microsoft.com/office/drawing/2014/main" id="{E8A6A41B-4D01-A7A8-254E-A5985FF43892}"/>
              </a:ext>
            </a:extLst>
          </p:cNvPr>
          <p:cNvSpPr>
            <a:spLocks noChangeArrowheads="1"/>
          </p:cNvSpPr>
          <p:nvPr/>
        </p:nvSpPr>
        <p:spPr bwMode="auto">
          <a:xfrm>
            <a:off x="1020421" y="388335"/>
            <a:ext cx="8229024" cy="1144921"/>
          </a:xfrm>
          <a:prstGeom prst="rect">
            <a:avLst/>
          </a:prstGeom>
          <a:noFill/>
          <a:ln>
            <a:noFill/>
          </a:ln>
          <a:effectLst/>
        </p:spPr>
        <p:txBody>
          <a:bodyPr lIns="0" tIns="2874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altLang="en-US" sz="3629"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Features</a:t>
            </a:r>
            <a:endParaRPr lang="en-IN" altLang="en-US" sz="3266"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4" name="Rectangle 3">
            <a:extLst>
              <a:ext uri="{FF2B5EF4-FFF2-40B4-BE49-F238E27FC236}">
                <a16:creationId xmlns:a16="http://schemas.microsoft.com/office/drawing/2014/main" id="{D62506AC-F6D4-17BC-0AFF-F48064D330A0}"/>
              </a:ext>
            </a:extLst>
          </p:cNvPr>
          <p:cNvSpPr>
            <a:spLocks noChangeArrowheads="1"/>
          </p:cNvSpPr>
          <p:nvPr/>
        </p:nvSpPr>
        <p:spPr bwMode="auto">
          <a:xfrm>
            <a:off x="1020421" y="1699517"/>
            <a:ext cx="9978883"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Advanced Detection: </a:t>
            </a:r>
            <a:r>
              <a:rPr lang="en-US" dirty="0">
                <a:latin typeface="Times New Roman" panose="02020603050405020304" pitchFamily="18" charset="0"/>
                <a:cs typeface="Times New Roman" panose="02020603050405020304" pitchFamily="18" charset="0"/>
              </a:rPr>
              <a:t>Real-time human detection using cutting-edge ML models including YOLO and OpenCV for accurate presence identification.</a:t>
            </a:r>
          </a:p>
          <a:p>
            <a:pPr marL="457200" indent="-457200">
              <a:buFont typeface="+mj-lt"/>
              <a:buAutoNum type="arabicPeriod"/>
            </a:pPr>
            <a:endParaRPr lang="en-US" sz="22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IoT Integration: </a:t>
            </a:r>
            <a:r>
              <a:rPr lang="en-US" dirty="0">
                <a:latin typeface="Times New Roman" panose="02020603050405020304" pitchFamily="18" charset="0"/>
                <a:cs typeface="Times New Roman" panose="02020603050405020304" pitchFamily="18" charset="0"/>
              </a:rPr>
              <a:t>Seamless integration of Raspberry Pi with camera modules and IoT connectivity for comprehensive system control.</a:t>
            </a:r>
          </a:p>
          <a:p>
            <a:pPr marL="457200" indent="-457200">
              <a:buFont typeface="+mj-lt"/>
              <a:buAutoNum type="arabicPeriod"/>
            </a:pPr>
            <a:endParaRPr lang="en-US" sz="22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Smart Automation: </a:t>
            </a:r>
            <a:r>
              <a:rPr lang="en-US" dirty="0">
                <a:latin typeface="Times New Roman" panose="02020603050405020304" pitchFamily="18" charset="0"/>
                <a:cs typeface="Times New Roman" panose="02020603050405020304" pitchFamily="18" charset="0"/>
              </a:rPr>
              <a:t>An</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Intelligent automated lighting control system that responds instantly to human presence detection.</a:t>
            </a:r>
          </a:p>
          <a:p>
            <a:pPr marL="457200" indent="-457200">
              <a:buFont typeface="+mj-lt"/>
              <a:buAutoNum type="arabicPeriod"/>
            </a:pPr>
            <a:endParaRPr lang="en-US" sz="2200" b="1"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LED Integration: </a:t>
            </a:r>
            <a:r>
              <a:rPr lang="en-US" dirty="0">
                <a:latin typeface="Times New Roman" panose="02020603050405020304" pitchFamily="18" charset="0"/>
                <a:cs typeface="Times New Roman" panose="02020603050405020304" pitchFamily="18" charset="0"/>
              </a:rPr>
              <a:t>Energy-efficient LED lighting systems with smart controls and dimming capabilities.</a:t>
            </a:r>
          </a:p>
          <a:p>
            <a:pPr marL="457200" indent="-457200">
              <a:buFont typeface="+mj-lt"/>
              <a:buAutoNum type="arabicPeriod"/>
            </a:pPr>
            <a:endParaRPr lang="en-US" sz="2200" b="1"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Mobile Control: </a:t>
            </a:r>
            <a:r>
              <a:rPr lang="en-US" dirty="0">
                <a:latin typeface="Times New Roman" panose="02020603050405020304" pitchFamily="18" charset="0"/>
                <a:cs typeface="Times New Roman" panose="02020603050405020304" pitchFamily="18" charset="0"/>
              </a:rPr>
              <a:t>Dedicated mobile application for remote monitoring, control, and system management.</a:t>
            </a:r>
          </a:p>
        </p:txBody>
      </p:sp>
    </p:spTree>
    <p:extLst>
      <p:ext uri="{BB962C8B-B14F-4D97-AF65-F5344CB8AC3E}">
        <p14:creationId xmlns:p14="http://schemas.microsoft.com/office/powerpoint/2010/main" val="207833206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29994-9E26-70E7-AE39-7F1C5817FB41}"/>
              </a:ext>
            </a:extLst>
          </p:cNvPr>
          <p:cNvSpPr>
            <a:spLocks noGrp="1"/>
          </p:cNvSpPr>
          <p:nvPr>
            <p:ph type="title"/>
          </p:nvPr>
        </p:nvSpPr>
        <p:spPr>
          <a:xfrm>
            <a:off x="409976" y="242632"/>
            <a:ext cx="8596668" cy="1320800"/>
          </a:xfrm>
        </p:spPr>
        <p:txBody>
          <a:bodyPr/>
          <a:lstStyle/>
          <a:p>
            <a:r>
              <a:rPr lang="en-IN" altLang="en-US"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Block Diagram</a:t>
            </a:r>
            <a:endParaRPr lang="en-IN" dirty="0"/>
          </a:p>
        </p:txBody>
      </p:sp>
      <p:sp>
        <p:nvSpPr>
          <p:cNvPr id="7" name="TextBox 6">
            <a:extLst>
              <a:ext uri="{FF2B5EF4-FFF2-40B4-BE49-F238E27FC236}">
                <a16:creationId xmlns:a16="http://schemas.microsoft.com/office/drawing/2014/main" id="{7F5D7625-E7E1-F3BF-DD41-FAC36AD11F64}"/>
              </a:ext>
            </a:extLst>
          </p:cNvPr>
          <p:cNvSpPr txBox="1"/>
          <p:nvPr/>
        </p:nvSpPr>
        <p:spPr>
          <a:xfrm>
            <a:off x="4351694" y="6307591"/>
            <a:ext cx="2775379" cy="307777"/>
          </a:xfrm>
          <a:prstGeom prst="rect">
            <a:avLst/>
          </a:prstGeom>
          <a:noFill/>
        </p:spPr>
        <p:txBody>
          <a:bodyPr wrap="square" rtlCol="0">
            <a:spAutoFit/>
          </a:bodyPr>
          <a:lstStyle/>
          <a:p>
            <a:r>
              <a:rPr lang="en-GB" sz="1400" dirty="0">
                <a:latin typeface="Times New Roman" panose="02020603050405020304" pitchFamily="18" charset="0"/>
                <a:cs typeface="Times New Roman" panose="02020603050405020304" pitchFamily="18" charset="0"/>
              </a:rPr>
              <a:t>Fig : System Block diagram</a:t>
            </a:r>
            <a:endParaRPr lang="en-IN" sz="1400" dirty="0">
              <a:latin typeface="Times New Roman" panose="02020603050405020304" pitchFamily="18" charset="0"/>
              <a:cs typeface="Times New Roman" panose="02020603050405020304" pitchFamily="18" charset="0"/>
            </a:endParaRPr>
          </a:p>
        </p:txBody>
      </p:sp>
      <p:pic>
        <p:nvPicPr>
          <p:cNvPr id="17" name="Content Placeholder 16">
            <a:extLst>
              <a:ext uri="{FF2B5EF4-FFF2-40B4-BE49-F238E27FC236}">
                <a16:creationId xmlns:a16="http://schemas.microsoft.com/office/drawing/2014/main" id="{C8E40EEC-F8B1-551D-6EFD-0BF9D38B4A27}"/>
              </a:ext>
            </a:extLst>
          </p:cNvPr>
          <p:cNvPicPr>
            <a:picLocks noGrp="1" noChangeAspect="1"/>
          </p:cNvPicPr>
          <p:nvPr>
            <p:ph idx="1"/>
          </p:nvPr>
        </p:nvPicPr>
        <p:blipFill>
          <a:blip r:embed="rId2"/>
          <a:stretch>
            <a:fillRect/>
          </a:stretch>
        </p:blipFill>
        <p:spPr>
          <a:xfrm>
            <a:off x="1408177" y="1223669"/>
            <a:ext cx="9244620" cy="4808909"/>
          </a:xfrm>
          <a:prstGeom prst="rect">
            <a:avLst/>
          </a:prstGeom>
        </p:spPr>
      </p:pic>
    </p:spTree>
    <p:extLst>
      <p:ext uri="{BB962C8B-B14F-4D97-AF65-F5344CB8AC3E}">
        <p14:creationId xmlns:p14="http://schemas.microsoft.com/office/powerpoint/2010/main" val="4153766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04545-A2C9-B910-08E9-0CAAEBACE926}"/>
              </a:ext>
            </a:extLst>
          </p:cNvPr>
          <p:cNvSpPr>
            <a:spLocks noGrp="1"/>
          </p:cNvSpPr>
          <p:nvPr>
            <p:ph type="title"/>
          </p:nvPr>
        </p:nvSpPr>
        <p:spPr>
          <a:xfrm>
            <a:off x="677334" y="609600"/>
            <a:ext cx="10305740" cy="705492"/>
          </a:xfrm>
        </p:spPr>
        <p:txBody>
          <a:bodyPr/>
          <a:lstStyle/>
          <a:p>
            <a:r>
              <a:rPr lang="en-IN" alt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Literature Survey of the existing systems</a:t>
            </a:r>
            <a:endPar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3162A8-2EB2-84C9-C963-EE5CCD6E4C41}"/>
              </a:ext>
            </a:extLst>
          </p:cNvPr>
          <p:cNvSpPr>
            <a:spLocks noGrp="1"/>
          </p:cNvSpPr>
          <p:nvPr>
            <p:ph idx="1"/>
          </p:nvPr>
        </p:nvSpPr>
        <p:spPr>
          <a:xfrm>
            <a:off x="677333" y="1684963"/>
            <a:ext cx="8934377" cy="4356400"/>
          </a:xfrm>
        </p:spPr>
        <p:txBody>
          <a:bodyPr>
            <a:normAutofit/>
          </a:bodyPr>
          <a:lstStyle/>
          <a:p>
            <a:pPr marL="0" indent="0" algn="just">
              <a:buNone/>
            </a:pPr>
            <a:r>
              <a:rPr lang="en-US" sz="1600" dirty="0">
                <a:solidFill>
                  <a:schemeClr val="tx1"/>
                </a:solidFill>
                <a:latin typeface="Times New Roman" panose="02020603050405020304" pitchFamily="18" charset="0"/>
                <a:cs typeface="Times New Roman" panose="02020603050405020304" pitchFamily="18" charset="0"/>
              </a:rPr>
              <a:t>Smart lab lighting in computer labs uses zonal control grouping lights by desk rows or clusters so only the areas in use are lit, saving energy without compromising comfort for screen work. It combines scheduled lighting scenes (like for lectures or cleaning) with motion sensors and daylight detection to adjust brightness automatically. Optional edge AI can count people without using cameras, protecting privacy. The system keeps light levels between 300–500 lux bright enough for tasks but not harsh and ensures smooth dimming and quick response to changes. If sensors or networks fail, it safely falls back to scheduled lighting. Monthly reports track energy use, sensor errors, and user feedback to show savings while keeping the lab experience smooth and comfortable.</a:t>
            </a:r>
          </a:p>
        </p:txBody>
      </p:sp>
    </p:spTree>
    <p:extLst>
      <p:ext uri="{BB962C8B-B14F-4D97-AF65-F5344CB8AC3E}">
        <p14:creationId xmlns:p14="http://schemas.microsoft.com/office/powerpoint/2010/main" val="4037930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9076DC2E-6A53-3D53-C12E-4447DF2358C3}"/>
              </a:ext>
            </a:extLst>
          </p:cNvPr>
          <p:cNvGraphicFramePr>
            <a:graphicFrameLocks noGrp="1"/>
          </p:cNvGraphicFramePr>
          <p:nvPr>
            <p:ph idx="1"/>
            <p:extLst>
              <p:ext uri="{D42A27DB-BD31-4B8C-83A1-F6EECF244321}">
                <p14:modId xmlns:p14="http://schemas.microsoft.com/office/powerpoint/2010/main" val="1083258960"/>
              </p:ext>
            </p:extLst>
          </p:nvPr>
        </p:nvGraphicFramePr>
        <p:xfrm>
          <a:off x="0" y="1"/>
          <a:ext cx="12204701" cy="6857999"/>
        </p:xfrm>
        <a:graphic>
          <a:graphicData uri="http://schemas.openxmlformats.org/drawingml/2006/table">
            <a:tbl>
              <a:tblPr firstRow="1" bandRow="1">
                <a:tableStyleId>{5C22544A-7EE6-4342-B048-85BDC9FD1C3A}</a:tableStyleId>
              </a:tblPr>
              <a:tblGrid>
                <a:gridCol w="709331">
                  <a:extLst>
                    <a:ext uri="{9D8B030D-6E8A-4147-A177-3AD203B41FA5}">
                      <a16:colId xmlns:a16="http://schemas.microsoft.com/office/drawing/2014/main" val="187593263"/>
                    </a:ext>
                  </a:extLst>
                </a:gridCol>
                <a:gridCol w="2154588">
                  <a:extLst>
                    <a:ext uri="{9D8B030D-6E8A-4147-A177-3AD203B41FA5}">
                      <a16:colId xmlns:a16="http://schemas.microsoft.com/office/drawing/2014/main" val="750055648"/>
                    </a:ext>
                  </a:extLst>
                </a:gridCol>
                <a:gridCol w="1619216">
                  <a:extLst>
                    <a:ext uri="{9D8B030D-6E8A-4147-A177-3AD203B41FA5}">
                      <a16:colId xmlns:a16="http://schemas.microsoft.com/office/drawing/2014/main" val="3140024512"/>
                    </a:ext>
                  </a:extLst>
                </a:gridCol>
                <a:gridCol w="1619216">
                  <a:extLst>
                    <a:ext uri="{9D8B030D-6E8A-4147-A177-3AD203B41FA5}">
                      <a16:colId xmlns:a16="http://schemas.microsoft.com/office/drawing/2014/main" val="545674230"/>
                    </a:ext>
                  </a:extLst>
                </a:gridCol>
                <a:gridCol w="1927638">
                  <a:extLst>
                    <a:ext uri="{9D8B030D-6E8A-4147-A177-3AD203B41FA5}">
                      <a16:colId xmlns:a16="http://schemas.microsoft.com/office/drawing/2014/main" val="1990470780"/>
                    </a:ext>
                  </a:extLst>
                </a:gridCol>
                <a:gridCol w="1586170">
                  <a:extLst>
                    <a:ext uri="{9D8B030D-6E8A-4147-A177-3AD203B41FA5}">
                      <a16:colId xmlns:a16="http://schemas.microsoft.com/office/drawing/2014/main" val="2609398781"/>
                    </a:ext>
                  </a:extLst>
                </a:gridCol>
                <a:gridCol w="2588542">
                  <a:extLst>
                    <a:ext uri="{9D8B030D-6E8A-4147-A177-3AD203B41FA5}">
                      <a16:colId xmlns:a16="http://schemas.microsoft.com/office/drawing/2014/main" val="1802460439"/>
                    </a:ext>
                  </a:extLst>
                </a:gridCol>
              </a:tblGrid>
              <a:tr h="1138368">
                <a:tc>
                  <a:txBody>
                    <a:bodyPr/>
                    <a:lstStyle/>
                    <a:p>
                      <a:r>
                        <a:rPr lang="en-US" sz="1800" dirty="0">
                          <a:solidFill>
                            <a:schemeClr val="tx1"/>
                          </a:solidFill>
                          <a:latin typeface="Times New Roman" panose="02020603050405020304" pitchFamily="18" charset="0"/>
                          <a:cs typeface="Times New Roman" panose="02020603050405020304" pitchFamily="18" charset="0"/>
                        </a:rPr>
                        <a:t>Year</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Title</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Author</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Domain</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Algorithm</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Dataset</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Gap</a:t>
                      </a:r>
                    </a:p>
                  </a:txBody>
                  <a:tcPr/>
                </a:tc>
                <a:extLst>
                  <a:ext uri="{0D108BD9-81ED-4DB2-BD59-A6C34878D82A}">
                    <a16:rowId xmlns:a16="http://schemas.microsoft.com/office/drawing/2014/main" val="3460381328"/>
                  </a:ext>
                </a:extLst>
              </a:tr>
              <a:tr h="1045045">
                <a:tc>
                  <a:txBody>
                    <a:bodyPr/>
                    <a:lstStyle/>
                    <a:p>
                      <a:pPr marL="0" marR="0">
                        <a:buNone/>
                      </a:pP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2025</a:t>
                      </a:r>
                    </a:p>
                  </a:txBody>
                  <a:tcPr marL="68580" marR="68580" marT="0" marB="0"/>
                </a:tc>
                <a:tc>
                  <a:txBody>
                    <a:bodyPr/>
                    <a:lstStyle/>
                    <a:p>
                      <a:pPr marL="0" marR="0">
                        <a:buNone/>
                      </a:pPr>
                      <a:r>
                        <a:rPr lang="de-DE" sz="1800" dirty="0">
                          <a:solidFill>
                            <a:schemeClr val="tx1"/>
                          </a:solidFill>
                          <a:latin typeface="Times New Roman" panose="02020603050405020304" pitchFamily="18" charset="0"/>
                          <a:cs typeface="Times New Roman" panose="02020603050405020304" pitchFamily="18" charset="0"/>
                        </a:rPr>
                        <a:t>Computer Lab Automation System</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800" dirty="0">
                          <a:solidFill>
                            <a:schemeClr val="tx1"/>
                          </a:solidFill>
                          <a:latin typeface="Times New Roman" panose="02020603050405020304" pitchFamily="18" charset="0"/>
                          <a:cs typeface="Times New Roman" panose="02020603050405020304" pitchFamily="18" charset="0"/>
                        </a:rPr>
                        <a:t>Sakshi Y. Tupe et al.</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Lab Energy Automation</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Motion Detection</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PIR Sensor Data</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a:buNone/>
                      </a:pPr>
                      <a:r>
                        <a:rPr lang="en-GB" sz="1800" dirty="0">
                          <a:solidFill>
                            <a:schemeClr val="tx1"/>
                          </a:solidFill>
                          <a:latin typeface="Times New Roman" panose="02020603050405020304" pitchFamily="18" charset="0"/>
                          <a:cs typeface="Times New Roman" panose="02020603050405020304" pitchFamily="18" charset="0"/>
                        </a:rPr>
                        <a:t>No cloud/mobile integration; basic detection only</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86287961"/>
                  </a:ext>
                </a:extLst>
              </a:tr>
              <a:tr h="1303531">
                <a:tc>
                  <a:txBody>
                    <a:bodyPr/>
                    <a:lstStyle/>
                    <a:p>
                      <a:pPr marL="0" marR="0">
                        <a:buNone/>
                      </a:pP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2024</a:t>
                      </a:r>
                    </a:p>
                  </a:txBody>
                  <a:tcPr marL="68580" marR="68580" marT="0" marB="0"/>
                </a:tc>
                <a:tc>
                  <a:txBody>
                    <a:bodyPr/>
                    <a:lstStyle/>
                    <a:p>
                      <a:r>
                        <a:rPr lang="en-GB" sz="1800" dirty="0">
                          <a:solidFill>
                            <a:schemeClr val="tx1"/>
                          </a:solidFill>
                          <a:latin typeface="Times New Roman" panose="02020603050405020304" pitchFamily="18" charset="0"/>
                          <a:cs typeface="Times New Roman" panose="02020603050405020304" pitchFamily="18" charset="0"/>
                        </a:rPr>
                        <a:t>Remote Laboratory for IoT Development and Learning Analytics</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K. </a:t>
                      </a:r>
                      <a:r>
                        <a:rPr lang="en-IN" sz="1800" dirty="0" err="1">
                          <a:solidFill>
                            <a:schemeClr val="tx1"/>
                          </a:solidFill>
                          <a:latin typeface="Times New Roman" panose="02020603050405020304" pitchFamily="18" charset="0"/>
                          <a:cs typeface="Times New Roman" panose="02020603050405020304" pitchFamily="18" charset="0"/>
                        </a:rPr>
                        <a:t>Trikoupis</a:t>
                      </a:r>
                      <a:r>
                        <a:rPr lang="en-IN" sz="1800" dirty="0">
                          <a:solidFill>
                            <a:schemeClr val="tx1"/>
                          </a:solidFill>
                          <a:latin typeface="Times New Roman" panose="02020603050405020304" pitchFamily="18" charset="0"/>
                          <a:cs typeface="Times New Roman" panose="02020603050405020304" pitchFamily="18" charset="0"/>
                        </a:rPr>
                        <a:t> et al.</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Remote IoT Education</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Node-RED Workflow</a:t>
                      </a:r>
                    </a:p>
                    <a:p>
                      <a:pPr marL="0" marR="0">
                        <a:buNone/>
                      </a:pP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p>
                  </a:txBody>
                  <a:tcPr marL="68580" marR="68580" marT="0" marB="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LMS-integrated IoT logs</a:t>
                      </a:r>
                    </a:p>
                  </a:txBody>
                  <a:tcPr marL="68580" marR="68580" marT="0" marB="0"/>
                </a:tc>
                <a:tc>
                  <a:txBody>
                    <a:bodyPr/>
                    <a:lstStyle/>
                    <a:p>
                      <a:pPr marL="0" marR="0">
                        <a:buNone/>
                      </a:pPr>
                      <a:r>
                        <a:rPr lang="en-GB" sz="1800" dirty="0">
                          <a:solidFill>
                            <a:schemeClr val="tx1"/>
                          </a:solidFill>
                          <a:latin typeface="Times New Roman" panose="02020603050405020304" pitchFamily="18" charset="0"/>
                          <a:cs typeface="Times New Roman" panose="02020603050405020304" pitchFamily="18" charset="0"/>
                        </a:rPr>
                        <a:t>Limited tactile experience; latency issues; scalability challenges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1494885"/>
                  </a:ext>
                </a:extLst>
              </a:tr>
              <a:tr h="1105059">
                <a:tc>
                  <a:txBody>
                    <a:bodyPr/>
                    <a:lstStyle/>
                    <a:p>
                      <a:pPr marL="0" marR="0">
                        <a:buNone/>
                      </a:pP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2024</a:t>
                      </a:r>
                    </a:p>
                  </a:txBody>
                  <a:tcPr marL="68580" marR="68580" marT="0" marB="0"/>
                </a:tc>
                <a:tc>
                  <a:txBody>
                    <a:bodyPr/>
                    <a:lstStyle/>
                    <a:p>
                      <a:r>
                        <a:rPr lang="en-IN" sz="1800" dirty="0">
                          <a:solidFill>
                            <a:schemeClr val="tx1"/>
                          </a:solidFill>
                          <a:latin typeface="Times New Roman" panose="02020603050405020304" pitchFamily="18" charset="0"/>
                          <a:cs typeface="Times New Roman" panose="02020603050405020304" pitchFamily="18" charset="0"/>
                        </a:rPr>
                        <a:t>Wireless Smart Lighting System</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a:buNone/>
                      </a:pPr>
                      <a:r>
                        <a:rPr lang="en-IN" sz="1800" dirty="0">
                          <a:solidFill>
                            <a:schemeClr val="tx1"/>
                          </a:solidFill>
                          <a:latin typeface="Times New Roman" panose="02020603050405020304" pitchFamily="18" charset="0"/>
                          <a:cs typeface="Times New Roman" panose="02020603050405020304" pitchFamily="18" charset="0"/>
                        </a:rPr>
                        <a:t>Mohankumar A. et al.</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buNone/>
                      </a:pPr>
                      <a:r>
                        <a:rPr lang="en-IN" sz="1800" dirty="0">
                          <a:solidFill>
                            <a:schemeClr val="tx1"/>
                          </a:solidFill>
                          <a:latin typeface="Times New Roman" panose="02020603050405020304" pitchFamily="18" charset="0"/>
                          <a:cs typeface="Times New Roman" panose="02020603050405020304" pitchFamily="18" charset="0"/>
                        </a:rPr>
                        <a:t>Campus Infrastructure</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800" dirty="0">
                          <a:solidFill>
                            <a:schemeClr val="tx1"/>
                          </a:solidFill>
                          <a:latin typeface="Times New Roman" panose="02020603050405020304" pitchFamily="18" charset="0"/>
                          <a:cs typeface="Times New Roman" panose="02020603050405020304" pitchFamily="18" charset="0"/>
                        </a:rPr>
                        <a:t>Sensor-based LED Control</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Wireless Sensor Logs</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a:buNone/>
                      </a:pPr>
                      <a:r>
                        <a:rPr lang="en-GB" sz="1800" dirty="0">
                          <a:solidFill>
                            <a:schemeClr val="tx1"/>
                          </a:solidFill>
                          <a:latin typeface="Times New Roman" panose="02020603050405020304" pitchFamily="18" charset="0"/>
                          <a:cs typeface="Times New Roman" panose="02020603050405020304" pitchFamily="18" charset="0"/>
                        </a:rPr>
                        <a:t>Centralised setup; poor modularity for decentralised labs  </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60029681"/>
                  </a:ext>
                </a:extLst>
              </a:tr>
              <a:tr h="1288348">
                <a:tc>
                  <a:txBody>
                    <a:bodyPr/>
                    <a:lstStyle/>
                    <a:p>
                      <a:pPr marL="0" marR="0">
                        <a:buNone/>
                      </a:pP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2023</a:t>
                      </a:r>
                    </a:p>
                  </a:txBody>
                  <a:tcPr marL="68580" marR="68580" marT="0" marB="0"/>
                </a:tc>
                <a:tc>
                  <a:txBody>
                    <a:bodyPr/>
                    <a:lstStyle/>
                    <a:p>
                      <a:r>
                        <a:rPr lang="en-IN" sz="1800" dirty="0">
                          <a:solidFill>
                            <a:schemeClr val="tx1"/>
                          </a:solidFill>
                          <a:latin typeface="Times New Roman" panose="02020603050405020304" pitchFamily="18" charset="0"/>
                          <a:cs typeface="Times New Roman" panose="02020603050405020304" pitchFamily="18" charset="0"/>
                        </a:rPr>
                        <a:t>IoT-Based Smart Laboratory System</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R. Sharma et al.</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Lab Automation</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Rule-based Automation</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Sensor Logs (Lights/Fans)</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GB" sz="1800" dirty="0">
                          <a:solidFill>
                            <a:schemeClr val="tx1"/>
                          </a:solidFill>
                          <a:latin typeface="Times New Roman" panose="02020603050405020304" pitchFamily="18" charset="0"/>
                          <a:cs typeface="Times New Roman" panose="02020603050405020304" pitchFamily="18" charset="0"/>
                        </a:rPr>
                        <a:t>No ML integration; lacks adaptive intelligence</a:t>
                      </a:r>
                      <a:endParaRPr lang="en-US"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3240041"/>
                  </a:ext>
                </a:extLst>
              </a:tr>
              <a:tr h="977648">
                <a:tc>
                  <a:txBody>
                    <a:bodyPr/>
                    <a:lstStyle/>
                    <a:p>
                      <a:pPr marL="0" marR="0">
                        <a:buNone/>
                      </a:pPr>
                      <a:r>
                        <a:rPr lang="en-IN" sz="1800" dirty="0">
                          <a:solidFill>
                            <a:schemeClr val="tx1"/>
                          </a:solidFill>
                          <a:latin typeface="Times New Roman" panose="02020603050405020304" pitchFamily="18" charset="0"/>
                          <a:cs typeface="Times New Roman" panose="02020603050405020304" pitchFamily="18" charset="0"/>
                        </a:rPr>
                        <a:t>2023</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800" dirty="0">
                          <a:solidFill>
                            <a:schemeClr val="tx1"/>
                          </a:solidFill>
                          <a:latin typeface="Times New Roman" panose="02020603050405020304" pitchFamily="18" charset="0"/>
                          <a:cs typeface="Times New Roman" panose="02020603050405020304" pitchFamily="18" charset="0"/>
                        </a:rPr>
                        <a:t>ML-Enabled Smart Industrial Automation</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A. Mehta et al.</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Industrial IoT</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SVM, Decision Trees</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Industrial IoT Sensor Data</a:t>
                      </a:r>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GB" sz="1800" dirty="0">
                          <a:solidFill>
                            <a:schemeClr val="tx1"/>
                          </a:solidFill>
                          <a:latin typeface="Times New Roman" panose="02020603050405020304" pitchFamily="18" charset="0"/>
                          <a:cs typeface="Times New Roman" panose="02020603050405020304" pitchFamily="18" charset="0"/>
                        </a:rPr>
                        <a:t>Focused on industry; lacks educational lab context</a:t>
                      </a:r>
                      <a:endParaRPr lang="en-US"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32986770"/>
                  </a:ext>
                </a:extLst>
              </a:tr>
            </a:tbl>
          </a:graphicData>
        </a:graphic>
      </p:graphicFrame>
    </p:spTree>
    <p:extLst>
      <p:ext uri="{BB962C8B-B14F-4D97-AF65-F5344CB8AC3E}">
        <p14:creationId xmlns:p14="http://schemas.microsoft.com/office/powerpoint/2010/main" val="3952664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18F76-CD23-424A-D136-620B3D97E8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52F980-F50D-1702-2F41-D30B39BBA3F4}"/>
              </a:ext>
            </a:extLst>
          </p:cNvPr>
          <p:cNvSpPr>
            <a:spLocks noGrp="1"/>
          </p:cNvSpPr>
          <p:nvPr>
            <p:ph idx="1"/>
          </p:nvPr>
        </p:nvSpPr>
        <p:spPr/>
        <p:txBody>
          <a:bodyPr/>
          <a:lstStyle/>
          <a:p>
            <a:endParaRPr lang="en-US"/>
          </a:p>
        </p:txBody>
      </p:sp>
      <p:graphicFrame>
        <p:nvGraphicFramePr>
          <p:cNvPr id="4" name="Content Placeholder 6">
            <a:extLst>
              <a:ext uri="{FF2B5EF4-FFF2-40B4-BE49-F238E27FC236}">
                <a16:creationId xmlns:a16="http://schemas.microsoft.com/office/drawing/2014/main" id="{38EA29CD-5A2B-DFC5-129A-5FF2CF6534E1}"/>
              </a:ext>
            </a:extLst>
          </p:cNvPr>
          <p:cNvGraphicFramePr>
            <a:graphicFrameLocks/>
          </p:cNvGraphicFramePr>
          <p:nvPr>
            <p:extLst>
              <p:ext uri="{D42A27DB-BD31-4B8C-83A1-F6EECF244321}">
                <p14:modId xmlns:p14="http://schemas.microsoft.com/office/powerpoint/2010/main" val="453410164"/>
              </p:ext>
            </p:extLst>
          </p:nvPr>
        </p:nvGraphicFramePr>
        <p:xfrm>
          <a:off x="0" y="0"/>
          <a:ext cx="12192000" cy="7090940"/>
        </p:xfrm>
        <a:graphic>
          <a:graphicData uri="http://schemas.openxmlformats.org/drawingml/2006/table">
            <a:tbl>
              <a:tblPr firstRow="1" bandRow="1">
                <a:tableStyleId>{5C22544A-7EE6-4342-B048-85BDC9FD1C3A}</a:tableStyleId>
              </a:tblPr>
              <a:tblGrid>
                <a:gridCol w="722376">
                  <a:extLst>
                    <a:ext uri="{9D8B030D-6E8A-4147-A177-3AD203B41FA5}">
                      <a16:colId xmlns:a16="http://schemas.microsoft.com/office/drawing/2014/main" val="187593263"/>
                    </a:ext>
                  </a:extLst>
                </a:gridCol>
                <a:gridCol w="1764792">
                  <a:extLst>
                    <a:ext uri="{9D8B030D-6E8A-4147-A177-3AD203B41FA5}">
                      <a16:colId xmlns:a16="http://schemas.microsoft.com/office/drawing/2014/main" val="750055648"/>
                    </a:ext>
                  </a:extLst>
                </a:gridCol>
                <a:gridCol w="1159349">
                  <a:extLst>
                    <a:ext uri="{9D8B030D-6E8A-4147-A177-3AD203B41FA5}">
                      <a16:colId xmlns:a16="http://schemas.microsoft.com/office/drawing/2014/main" val="1652113948"/>
                    </a:ext>
                  </a:extLst>
                </a:gridCol>
                <a:gridCol w="1551709">
                  <a:extLst>
                    <a:ext uri="{9D8B030D-6E8A-4147-A177-3AD203B41FA5}">
                      <a16:colId xmlns:a16="http://schemas.microsoft.com/office/drawing/2014/main" val="1990470780"/>
                    </a:ext>
                  </a:extLst>
                </a:gridCol>
                <a:gridCol w="1618211">
                  <a:extLst>
                    <a:ext uri="{9D8B030D-6E8A-4147-A177-3AD203B41FA5}">
                      <a16:colId xmlns:a16="http://schemas.microsoft.com/office/drawing/2014/main" val="2609398781"/>
                    </a:ext>
                  </a:extLst>
                </a:gridCol>
                <a:gridCol w="2428147">
                  <a:extLst>
                    <a:ext uri="{9D8B030D-6E8A-4147-A177-3AD203B41FA5}">
                      <a16:colId xmlns:a16="http://schemas.microsoft.com/office/drawing/2014/main" val="1802460439"/>
                    </a:ext>
                  </a:extLst>
                </a:gridCol>
                <a:gridCol w="2947416">
                  <a:extLst>
                    <a:ext uri="{9D8B030D-6E8A-4147-A177-3AD203B41FA5}">
                      <a16:colId xmlns:a16="http://schemas.microsoft.com/office/drawing/2014/main" val="3112087001"/>
                    </a:ext>
                  </a:extLst>
                </a:gridCol>
              </a:tblGrid>
              <a:tr h="1015645">
                <a:tc>
                  <a:txBody>
                    <a:bodyPr/>
                    <a:lstStyle/>
                    <a:p>
                      <a:r>
                        <a:rPr lang="en-US" sz="1800" dirty="0">
                          <a:solidFill>
                            <a:schemeClr val="tx1"/>
                          </a:solidFill>
                          <a:latin typeface="Times New Roman" panose="02020603050405020304" pitchFamily="18" charset="0"/>
                          <a:cs typeface="Times New Roman" panose="02020603050405020304" pitchFamily="18" charset="0"/>
                        </a:rPr>
                        <a:t>Year</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Title</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Author</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Domain</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Algorithm</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Dataset</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Gap</a:t>
                      </a:r>
                    </a:p>
                  </a:txBody>
                  <a:tcPr/>
                </a:tc>
                <a:extLst>
                  <a:ext uri="{0D108BD9-81ED-4DB2-BD59-A6C34878D82A}">
                    <a16:rowId xmlns:a16="http://schemas.microsoft.com/office/drawing/2014/main" val="861652050"/>
                  </a:ext>
                </a:extLst>
              </a:tr>
              <a:tr h="1117148">
                <a:tc>
                  <a:txBody>
                    <a:bodyPr/>
                    <a:lstStyle/>
                    <a:p>
                      <a:r>
                        <a:rPr lang="en-IN" sz="1800" b="0" dirty="0">
                          <a:solidFill>
                            <a:schemeClr val="tx1"/>
                          </a:solidFill>
                          <a:latin typeface="Times New Roman" panose="02020603050405020304" pitchFamily="18" charset="0"/>
                          <a:cs typeface="Times New Roman" panose="02020603050405020304" pitchFamily="18" charset="0"/>
                        </a:rPr>
                        <a:t>2023</a:t>
                      </a:r>
                      <a:endParaRPr lang="en-US"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800" b="0" dirty="0">
                          <a:solidFill>
                            <a:schemeClr val="tx1"/>
                          </a:solidFill>
                          <a:latin typeface="Times New Roman" panose="02020603050405020304" pitchFamily="18" charset="0"/>
                          <a:cs typeface="Times New Roman" panose="02020603050405020304" pitchFamily="18" charset="0"/>
                        </a:rPr>
                        <a:t>IoT + ML Smart Systems Overview</a:t>
                      </a:r>
                    </a:p>
                  </a:txBody>
                  <a:tcPr/>
                </a:tc>
                <a:tc>
                  <a:txBody>
                    <a:bodyPr/>
                    <a:lstStyle/>
                    <a:p>
                      <a:pPr marL="0" marR="0">
                        <a:buNone/>
                      </a:pPr>
                      <a:r>
                        <a:rPr lang="en-US"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 Desai et al.</a:t>
                      </a:r>
                    </a:p>
                  </a:txBody>
                  <a:tcPr marL="68580" marR="68580" marT="0" marB="0"/>
                </a:tc>
                <a:tc>
                  <a:txBody>
                    <a:bodyPr/>
                    <a:lstStyle/>
                    <a:p>
                      <a:pPr marL="0" marR="0">
                        <a:buNone/>
                      </a:pPr>
                      <a:r>
                        <a:rPr lang="en-US"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Smart Systems</a:t>
                      </a:r>
                    </a:p>
                  </a:txBody>
                  <a:tcPr marL="68580" marR="68580" marT="0" marB="0"/>
                </a:tc>
                <a:tc>
                  <a:txBody>
                    <a:bodyPr/>
                    <a:lstStyle/>
                    <a:p>
                      <a:r>
                        <a:rPr lang="en-US" sz="1800" b="0" kern="1200" dirty="0">
                          <a:solidFill>
                            <a:schemeClr val="tx1"/>
                          </a:solidFill>
                          <a:effectLst/>
                          <a:latin typeface="Times New Roman" panose="02020603050405020304" pitchFamily="18" charset="0"/>
                          <a:ea typeface="+mn-ea"/>
                          <a:cs typeface="Times New Roman" panose="02020603050405020304" pitchFamily="18" charset="0"/>
                        </a:rPr>
                        <a:t>Hybrid ML Models</a:t>
                      </a:r>
                      <a:endParaRPr lang="en-US"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800" b="0" kern="1200" dirty="0">
                          <a:solidFill>
                            <a:schemeClr val="tx1"/>
                          </a:solidFill>
                          <a:effectLst/>
                          <a:latin typeface="Times New Roman" panose="02020603050405020304" pitchFamily="18" charset="0"/>
                          <a:ea typeface="+mn-ea"/>
                          <a:cs typeface="Times New Roman" panose="02020603050405020304" pitchFamily="18" charset="0"/>
                        </a:rPr>
                        <a:t>Aggregated IoT datasets</a:t>
                      </a:r>
                      <a:endParaRPr lang="en-US"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a:buNone/>
                      </a:pPr>
                      <a:r>
                        <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Broad overview; lacks implementation specifics for labs</a:t>
                      </a:r>
                      <a:r>
                        <a:rPr lang="en-US"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p>
                  </a:txBody>
                  <a:tcPr marL="68580" marR="68580" marT="0" marB="0"/>
                </a:tc>
                <a:extLst>
                  <a:ext uri="{0D108BD9-81ED-4DB2-BD59-A6C34878D82A}">
                    <a16:rowId xmlns:a16="http://schemas.microsoft.com/office/drawing/2014/main" val="3460381328"/>
                  </a:ext>
                </a:extLst>
              </a:tr>
              <a:tr h="1351466">
                <a:tc>
                  <a:txBody>
                    <a:bodyPr/>
                    <a:lstStyle/>
                    <a:p>
                      <a:r>
                        <a:rPr lang="en-IN" sz="1800" dirty="0">
                          <a:solidFill>
                            <a:schemeClr val="tx1"/>
                          </a:solidFill>
                          <a:latin typeface="Times New Roman" panose="02020603050405020304" pitchFamily="18" charset="0"/>
                          <a:cs typeface="Times New Roman" panose="02020603050405020304" pitchFamily="18" charset="0"/>
                        </a:rPr>
                        <a:t>2022</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a:buNone/>
                      </a:pPr>
                      <a:r>
                        <a:rPr lang="en-IN" sz="1800" dirty="0">
                          <a:solidFill>
                            <a:schemeClr val="tx1"/>
                          </a:solidFill>
                          <a:latin typeface="Times New Roman" panose="02020603050405020304" pitchFamily="18" charset="0"/>
                          <a:cs typeface="Times New Roman" panose="02020603050405020304" pitchFamily="18" charset="0"/>
                        </a:rPr>
                        <a:t>Secured Smart Automation System for Computer Labs</a:t>
                      </a: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p>
                  </a:txBody>
                  <a:tcPr marL="68580" marR="68580" marT="0" marB="0"/>
                </a:tc>
                <a:tc>
                  <a:txBody>
                    <a:bodyPr/>
                    <a:lstStyle/>
                    <a:p>
                      <a:r>
                        <a:rPr lang="en-US" sz="1800" dirty="0">
                          <a:solidFill>
                            <a:schemeClr val="tx1"/>
                          </a:solidFill>
                          <a:latin typeface="Times New Roman" panose="02020603050405020304" pitchFamily="18" charset="0"/>
                          <a:cs typeface="Times New Roman" panose="02020603050405020304" pitchFamily="18" charset="0"/>
                        </a:rPr>
                        <a:t>P. Sudhakaran et al.</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Lab Safety Automation</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IoT Sensor Fusion</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Motion, Fire, Intrusion Sensor Logs</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GB" sz="1800" dirty="0">
                          <a:solidFill>
                            <a:schemeClr val="tx1"/>
                          </a:solidFill>
                          <a:latin typeface="Times New Roman" panose="02020603050405020304" pitchFamily="18" charset="0"/>
                          <a:cs typeface="Times New Roman" panose="02020603050405020304" pitchFamily="18" charset="0"/>
                        </a:rPr>
                        <a:t>Privacy concerns; cloud dependency; false alarms</a:t>
                      </a:r>
                      <a:endParaRPr lang="en-US"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86287961"/>
                  </a:ext>
                </a:extLst>
              </a:tr>
              <a:tr h="681460">
                <a:tc>
                  <a:txBody>
                    <a:bodyPr/>
                    <a:lstStyle/>
                    <a:p>
                      <a:r>
                        <a:rPr lang="en-IN" sz="1800" dirty="0">
                          <a:solidFill>
                            <a:schemeClr val="tx1"/>
                          </a:solidFill>
                          <a:latin typeface="Times New Roman" panose="02020603050405020304" pitchFamily="18" charset="0"/>
                          <a:cs typeface="Times New Roman" panose="02020603050405020304" pitchFamily="18" charset="0"/>
                        </a:rPr>
                        <a:t>2022</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GB" sz="1800" dirty="0">
                          <a:solidFill>
                            <a:schemeClr val="tx1"/>
                          </a:solidFill>
                          <a:latin typeface="Times New Roman" panose="02020603050405020304" pitchFamily="18" charset="0"/>
                          <a:cs typeface="Times New Roman" panose="02020603050405020304" pitchFamily="18" charset="0"/>
                        </a:rPr>
                        <a:t>Smart Classroom Automation Using IoT</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M. Ramesh et al.</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Educational Automation</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Decision Trees, MQTT</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Decision Trees, MQTT</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a:buNone/>
                      </a:pPr>
                      <a:r>
                        <a:rPr lang="en-GB" sz="1800" dirty="0">
                          <a:solidFill>
                            <a:schemeClr val="tx1"/>
                          </a:solidFill>
                          <a:latin typeface="Times New Roman" panose="02020603050405020304" pitchFamily="18" charset="0"/>
                          <a:cs typeface="Times New Roman" panose="02020603050405020304" pitchFamily="18" charset="0"/>
                        </a:rPr>
                        <a:t>Classroom-focused; lacks lab-specific energy optimization</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1494885"/>
                  </a:ext>
                </a:extLst>
              </a:tr>
              <a:tr h="1016605">
                <a:tc>
                  <a:txBody>
                    <a:bodyPr/>
                    <a:lstStyle/>
                    <a:p>
                      <a:r>
                        <a:rPr lang="en-US" sz="1800" kern="1200" dirty="0">
                          <a:solidFill>
                            <a:schemeClr val="tx1"/>
                          </a:solidFill>
                          <a:effectLst/>
                          <a:latin typeface="Times New Roman" panose="02020603050405020304" pitchFamily="18" charset="0"/>
                          <a:ea typeface="+mn-ea"/>
                          <a:cs typeface="Times New Roman" panose="02020603050405020304" pitchFamily="18" charset="0"/>
                        </a:rPr>
                        <a:t>2021</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AI-Based Smart Lab Monitoring System</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T. Kulkarni et al.</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Lab Monitoring</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YOLOv3, OpenCV</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Custom Lab Video Dataset</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GB" sz="1800" dirty="0">
                          <a:solidFill>
                            <a:schemeClr val="tx1"/>
                          </a:solidFill>
                          <a:latin typeface="Times New Roman" panose="02020603050405020304" pitchFamily="18" charset="0"/>
                          <a:cs typeface="Times New Roman" panose="02020603050405020304" pitchFamily="18" charset="0"/>
                        </a:rPr>
                        <a:t>Limited scalability; lacks mobile integration and analytics</a:t>
                      </a:r>
                      <a:endParaRPr lang="en-US"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60029681"/>
                  </a:ext>
                </a:extLst>
              </a:tr>
              <a:tr h="1675676">
                <a:tc>
                  <a:txBody>
                    <a:bodyPr/>
                    <a:lstStyle/>
                    <a:p>
                      <a:r>
                        <a:rPr lang="en-IN" sz="1800" dirty="0">
                          <a:solidFill>
                            <a:schemeClr val="tx1"/>
                          </a:solidFill>
                          <a:latin typeface="Times New Roman" panose="02020603050405020304" pitchFamily="18" charset="0"/>
                          <a:cs typeface="Times New Roman" panose="02020603050405020304" pitchFamily="18" charset="0"/>
                        </a:rPr>
                        <a:t>2020</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a:buNone/>
                      </a:pPr>
                      <a:r>
                        <a:rPr lang="en-GB" sz="1800" dirty="0">
                          <a:solidFill>
                            <a:schemeClr val="tx1"/>
                          </a:solidFill>
                          <a:latin typeface="Times New Roman" panose="02020603050405020304" pitchFamily="18" charset="0"/>
                          <a:cs typeface="Times New Roman" panose="02020603050405020304" pitchFamily="18" charset="0"/>
                        </a:rPr>
                        <a:t>Smart Lab with Automated Access</a:t>
                      </a: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IN" sz="1800" dirty="0">
                          <a:solidFill>
                            <a:schemeClr val="tx1"/>
                          </a:solidFill>
                          <a:latin typeface="Times New Roman" panose="02020603050405020304" pitchFamily="18" charset="0"/>
                          <a:cs typeface="Times New Roman" panose="02020603050405020304" pitchFamily="18" charset="0"/>
                        </a:rPr>
                        <a:t>S. Prathima et al.</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Access Control</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Face Recognition (AWS)</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USB Camera + AWS </a:t>
                      </a:r>
                      <a:r>
                        <a:rPr lang="en-IN" sz="1800" dirty="0" err="1">
                          <a:solidFill>
                            <a:schemeClr val="tx1"/>
                          </a:solidFill>
                          <a:latin typeface="Times New Roman" panose="02020603050405020304" pitchFamily="18" charset="0"/>
                          <a:cs typeface="Times New Roman" panose="02020603050405020304" pitchFamily="18" charset="0"/>
                        </a:rPr>
                        <a:t>Rekognition</a:t>
                      </a:r>
                      <a:endParaRPr lang="en-US"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GB" sz="1800" dirty="0">
                          <a:solidFill>
                            <a:schemeClr val="tx1"/>
                          </a:solidFill>
                          <a:latin typeface="Times New Roman" panose="02020603050405020304" pitchFamily="18" charset="0"/>
                          <a:cs typeface="Times New Roman" panose="02020603050405020304" pitchFamily="18" charset="0"/>
                        </a:rPr>
                        <a:t>Limited to access control; no energy optimization</a:t>
                      </a:r>
                      <a:endParaRPr lang="en-US"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3240041"/>
                  </a:ext>
                </a:extLst>
              </a:tr>
            </a:tbl>
          </a:graphicData>
        </a:graphic>
      </p:graphicFrame>
    </p:spTree>
    <p:extLst>
      <p:ext uri="{BB962C8B-B14F-4D97-AF65-F5344CB8AC3E}">
        <p14:creationId xmlns:p14="http://schemas.microsoft.com/office/powerpoint/2010/main" val="2265454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A594A-A071-0842-FE5D-4B7D7A589C51}"/>
              </a:ext>
            </a:extLst>
          </p:cNvPr>
          <p:cNvSpPr>
            <a:spLocks noGrp="1"/>
          </p:cNvSpPr>
          <p:nvPr>
            <p:ph type="title"/>
          </p:nvPr>
        </p:nvSpPr>
        <p:spPr/>
        <p:txBody>
          <a:bodyPr/>
          <a:lstStyle/>
          <a:p>
            <a:r>
              <a:rPr lang="en-IN" alt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Limitations of the existing systems</a:t>
            </a:r>
            <a:br>
              <a:rPr lang="en-IN" alt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48FA4083-BE37-45E8-7765-0E1972D3AB61}"/>
              </a:ext>
            </a:extLst>
          </p:cNvPr>
          <p:cNvSpPr>
            <a:spLocks noGrp="1" noChangeArrowheads="1"/>
          </p:cNvSpPr>
          <p:nvPr>
            <p:ph idx="1"/>
          </p:nvPr>
        </p:nvSpPr>
        <p:spPr bwMode="auto">
          <a:xfrm>
            <a:off x="677334" y="1894218"/>
            <a:ext cx="909760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GB"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Limited Intelligence: </a:t>
            </a:r>
            <a:r>
              <a:rPr kumimoji="0" lang="en-GB"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systems rely on basic motion sensors or rule-based automation, lacking adaptive machine learning for accurate human detection.</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GB"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Challenges: </a:t>
            </a:r>
            <a:r>
              <a:rPr kumimoji="0" lang="en-GB"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architectures and complex installations hinder deployment across multiple labs or institutions.</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GB"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Dependency &amp; Privacy Risks: </a:t>
            </a:r>
            <a:r>
              <a:rPr kumimoji="0" lang="en-GB"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Systems using cloud-based services (e.g., AWS) raise concerns over data privacy, latency, and network reliability.</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GB"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Mobile/Cloud Integration: </a:t>
            </a:r>
            <a:r>
              <a:rPr kumimoji="0" lang="en-GB"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Several solutions do not support remote access or mobile control, reducing flexibility and user engagement.</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GB"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False Triggers &amp; Sensor Inaccuracy: </a:t>
            </a:r>
            <a:r>
              <a:rPr kumimoji="0" lang="en-GB"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PIR and basic sensors often produce false positives, leading to inefficient energy usage and unreliable automation.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111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18CEC-F32A-F554-CADA-9AB3BDE78F06}"/>
              </a:ext>
            </a:extLst>
          </p:cNvPr>
          <p:cNvSpPr>
            <a:spLocks noGrp="1"/>
          </p:cNvSpPr>
          <p:nvPr>
            <p:ph type="title"/>
          </p:nvPr>
        </p:nvSpPr>
        <p:spPr>
          <a:xfrm>
            <a:off x="677334" y="609600"/>
            <a:ext cx="8596668" cy="654121"/>
          </a:xfrm>
        </p:spPr>
        <p:txBody>
          <a:bodyPr/>
          <a:lstStyle/>
          <a:p>
            <a:r>
              <a:rPr lang="en-US" alt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Implementation</a:t>
            </a:r>
            <a:endPar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9B66AD52-55E6-F11A-78A7-BC82E7EF541D}"/>
              </a:ext>
            </a:extLst>
          </p:cNvPr>
          <p:cNvPicPr>
            <a:picLocks noGrp="1" noChangeAspect="1"/>
          </p:cNvPicPr>
          <p:nvPr>
            <p:ph idx="1"/>
          </p:nvPr>
        </p:nvPicPr>
        <p:blipFill>
          <a:blip r:embed="rId2"/>
          <a:stretch>
            <a:fillRect/>
          </a:stretch>
        </p:blipFill>
        <p:spPr>
          <a:xfrm>
            <a:off x="1490122" y="1637411"/>
            <a:ext cx="7150958" cy="3881438"/>
          </a:xfrm>
          <a:prstGeom prst="rect">
            <a:avLst/>
          </a:prstGeom>
        </p:spPr>
      </p:pic>
      <p:sp>
        <p:nvSpPr>
          <p:cNvPr id="3" name="TextBox 2">
            <a:extLst>
              <a:ext uri="{FF2B5EF4-FFF2-40B4-BE49-F238E27FC236}">
                <a16:creationId xmlns:a16="http://schemas.microsoft.com/office/drawing/2014/main" id="{D455D24B-C0BD-51A5-910D-E3CDB59830CF}"/>
              </a:ext>
            </a:extLst>
          </p:cNvPr>
          <p:cNvSpPr txBox="1"/>
          <p:nvPr/>
        </p:nvSpPr>
        <p:spPr>
          <a:xfrm>
            <a:off x="3809806" y="5892539"/>
            <a:ext cx="2389825" cy="307777"/>
          </a:xfrm>
          <a:prstGeom prst="rect">
            <a:avLst/>
          </a:prstGeom>
          <a:noFill/>
        </p:spPr>
        <p:txBody>
          <a:bodyPr wrap="square" rtlCol="0">
            <a:spAutoFit/>
          </a:bodyPr>
          <a:lstStyle/>
          <a:p>
            <a:r>
              <a:rPr lang="en-GB" sz="1400" dirty="0">
                <a:latin typeface="Times New Roman" panose="02020603050405020304" pitchFamily="18" charset="0"/>
                <a:cs typeface="Times New Roman" panose="02020603050405020304" pitchFamily="18" charset="0"/>
              </a:rPr>
              <a:t>Fig 1: Live Camera Feed page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659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9847B-095F-139A-AA7A-601E501BE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87791-7E1A-A9DD-87C5-46C1A7247EE5}"/>
              </a:ext>
            </a:extLst>
          </p:cNvPr>
          <p:cNvSpPr>
            <a:spLocks noGrp="1"/>
          </p:cNvSpPr>
          <p:nvPr>
            <p:ph type="title"/>
          </p:nvPr>
        </p:nvSpPr>
        <p:spPr>
          <a:xfrm>
            <a:off x="677334" y="609600"/>
            <a:ext cx="8596668" cy="654121"/>
          </a:xfrm>
        </p:spPr>
        <p:txBody>
          <a:bodyPr/>
          <a:lstStyle/>
          <a:p>
            <a:r>
              <a:rPr lang="en-US" alt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Implementation</a:t>
            </a:r>
            <a:endPar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102384A-7573-4A24-21D7-61964BDBE264}"/>
              </a:ext>
            </a:extLst>
          </p:cNvPr>
          <p:cNvPicPr>
            <a:picLocks noGrp="1" noChangeAspect="1"/>
          </p:cNvPicPr>
          <p:nvPr>
            <p:ph idx="1"/>
          </p:nvPr>
        </p:nvPicPr>
        <p:blipFill>
          <a:blip r:embed="rId2"/>
          <a:stretch>
            <a:fillRect/>
          </a:stretch>
        </p:blipFill>
        <p:spPr>
          <a:xfrm>
            <a:off x="2231385" y="1488281"/>
            <a:ext cx="6970595" cy="3881437"/>
          </a:xfrm>
          <a:prstGeom prst="rect">
            <a:avLst/>
          </a:prstGeom>
        </p:spPr>
      </p:pic>
      <p:sp>
        <p:nvSpPr>
          <p:cNvPr id="3" name="TextBox 2">
            <a:extLst>
              <a:ext uri="{FF2B5EF4-FFF2-40B4-BE49-F238E27FC236}">
                <a16:creationId xmlns:a16="http://schemas.microsoft.com/office/drawing/2014/main" id="{BB90E051-1D2B-EFD3-ECA5-16CFD8C15497}"/>
              </a:ext>
            </a:extLst>
          </p:cNvPr>
          <p:cNvSpPr txBox="1"/>
          <p:nvPr/>
        </p:nvSpPr>
        <p:spPr>
          <a:xfrm>
            <a:off x="4521769" y="5594278"/>
            <a:ext cx="2389825" cy="307777"/>
          </a:xfrm>
          <a:prstGeom prst="rect">
            <a:avLst/>
          </a:prstGeom>
          <a:noFill/>
        </p:spPr>
        <p:txBody>
          <a:bodyPr wrap="square" rtlCol="0">
            <a:spAutoFit/>
          </a:bodyPr>
          <a:lstStyle/>
          <a:p>
            <a:r>
              <a:rPr lang="en-GB" sz="1400" dirty="0">
                <a:latin typeface="Times New Roman" panose="02020603050405020304" pitchFamily="18" charset="0"/>
                <a:cs typeface="Times New Roman" panose="02020603050405020304" pitchFamily="18" charset="0"/>
              </a:rPr>
              <a:t>Fig 2: Zone Definition page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8790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EA696-52A6-2E47-B0CF-168C6A26E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04C54-87B3-4119-8DC5-267515EC3ECF}"/>
              </a:ext>
            </a:extLst>
          </p:cNvPr>
          <p:cNvSpPr>
            <a:spLocks noGrp="1"/>
          </p:cNvSpPr>
          <p:nvPr>
            <p:ph type="title"/>
          </p:nvPr>
        </p:nvSpPr>
        <p:spPr>
          <a:xfrm>
            <a:off x="677334" y="609600"/>
            <a:ext cx="8596668" cy="654121"/>
          </a:xfrm>
        </p:spPr>
        <p:txBody>
          <a:bodyPr/>
          <a:lstStyle/>
          <a:p>
            <a:r>
              <a:rPr lang="en-US" alt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Implementation</a:t>
            </a:r>
            <a:endPar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E9FA6B60-0CFF-FA45-A6E2-19F99DE9677B}"/>
              </a:ext>
            </a:extLst>
          </p:cNvPr>
          <p:cNvPicPr>
            <a:picLocks noGrp="1" noChangeAspect="1"/>
          </p:cNvPicPr>
          <p:nvPr>
            <p:ph idx="1"/>
          </p:nvPr>
        </p:nvPicPr>
        <p:blipFill>
          <a:blip r:embed="rId2"/>
          <a:stretch>
            <a:fillRect/>
          </a:stretch>
        </p:blipFill>
        <p:spPr>
          <a:xfrm>
            <a:off x="2305334" y="1488281"/>
            <a:ext cx="6968668" cy="3881437"/>
          </a:xfrm>
          <a:prstGeom prst="rect">
            <a:avLst/>
          </a:prstGeom>
        </p:spPr>
      </p:pic>
      <p:sp>
        <p:nvSpPr>
          <p:cNvPr id="3" name="TextBox 2">
            <a:extLst>
              <a:ext uri="{FF2B5EF4-FFF2-40B4-BE49-F238E27FC236}">
                <a16:creationId xmlns:a16="http://schemas.microsoft.com/office/drawing/2014/main" id="{99D8D5D5-9807-055B-3444-CD5494B64663}"/>
              </a:ext>
            </a:extLst>
          </p:cNvPr>
          <p:cNvSpPr txBox="1"/>
          <p:nvPr/>
        </p:nvSpPr>
        <p:spPr>
          <a:xfrm>
            <a:off x="4613043" y="5700515"/>
            <a:ext cx="2107797" cy="307777"/>
          </a:xfrm>
          <a:prstGeom prst="rect">
            <a:avLst/>
          </a:prstGeom>
          <a:noFill/>
        </p:spPr>
        <p:txBody>
          <a:bodyPr wrap="square" rtlCol="0">
            <a:spAutoFit/>
          </a:bodyPr>
          <a:lstStyle/>
          <a:p>
            <a:r>
              <a:rPr lang="en-GB" sz="1400" dirty="0">
                <a:latin typeface="Times New Roman" panose="02020603050405020304" pitchFamily="18" charset="0"/>
                <a:cs typeface="Times New Roman" panose="02020603050405020304" pitchFamily="18" charset="0"/>
              </a:rPr>
              <a:t>Fig 3: Light Control page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8749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12895-3CA2-CCFD-1781-CFED1D4A6DD3}"/>
            </a:ext>
          </a:extLst>
        </p:cNvPr>
        <p:cNvGrpSpPr/>
        <p:nvPr/>
      </p:nvGrpSpPr>
      <p:grpSpPr>
        <a:xfrm>
          <a:off x="0" y="0"/>
          <a:ext cx="0" cy="0"/>
          <a:chOff x="0" y="0"/>
          <a:chExt cx="0" cy="0"/>
        </a:xfrm>
      </p:grpSpPr>
      <p:sp>
        <p:nvSpPr>
          <p:cNvPr id="8194" name="Rectangle 1">
            <a:extLst>
              <a:ext uri="{FF2B5EF4-FFF2-40B4-BE49-F238E27FC236}">
                <a16:creationId xmlns:a16="http://schemas.microsoft.com/office/drawing/2014/main" id="{7DD61CF5-6999-D34F-A69A-C1CE03C25069}"/>
              </a:ext>
            </a:extLst>
          </p:cNvPr>
          <p:cNvSpPr>
            <a:spLocks noChangeArrowheads="1"/>
          </p:cNvSpPr>
          <p:nvPr/>
        </p:nvSpPr>
        <p:spPr bwMode="auto">
          <a:xfrm>
            <a:off x="1020421" y="388335"/>
            <a:ext cx="8229024" cy="1144921"/>
          </a:xfrm>
          <a:prstGeom prst="rect">
            <a:avLst/>
          </a:prstGeom>
          <a:noFill/>
          <a:ln>
            <a:noFill/>
          </a:ln>
          <a:effectLst/>
        </p:spPr>
        <p:txBody>
          <a:bodyPr lIns="0" tIns="2874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altLang="en-US" sz="3629"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Uniqueness</a:t>
            </a:r>
            <a:endParaRPr lang="en-IN" altLang="en-US" sz="3266"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4" name="Rectangle 3">
            <a:extLst>
              <a:ext uri="{FF2B5EF4-FFF2-40B4-BE49-F238E27FC236}">
                <a16:creationId xmlns:a16="http://schemas.microsoft.com/office/drawing/2014/main" id="{2D2B7AF3-8EF5-BD4A-CD43-729F31995365}"/>
              </a:ext>
            </a:extLst>
          </p:cNvPr>
          <p:cNvSpPr>
            <a:spLocks noChangeArrowheads="1"/>
          </p:cNvSpPr>
          <p:nvPr/>
        </p:nvSpPr>
        <p:spPr bwMode="auto">
          <a:xfrm>
            <a:off x="892405" y="1531299"/>
            <a:ext cx="997888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We compared our project with the research paper titled </a:t>
            </a:r>
            <a:r>
              <a:rPr lang="en-US" b="1" dirty="0">
                <a:latin typeface="Times New Roman" panose="02020603050405020304" pitchFamily="18" charset="0"/>
                <a:cs typeface="Times New Roman" panose="02020603050405020304" pitchFamily="18" charset="0"/>
              </a:rPr>
              <a:t>“</a:t>
            </a:r>
            <a:r>
              <a:rPr lang="en-IN" altLang="en-US"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Smart Lab Zonal Control</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as our base paper.</a:t>
            </a:r>
          </a:p>
          <a:p>
            <a:pPr lvl="0" defTabSz="914400" eaLnBrk="0" fontAlgn="base" hangingPunct="0">
              <a:spcBef>
                <a:spcPct val="0"/>
              </a:spcBef>
              <a:spcAft>
                <a:spcPct val="0"/>
              </a:spcAft>
              <a:buFontTx/>
              <a:buAutoNum type="arabicPeriod"/>
            </a:pPr>
            <a:r>
              <a:rPr lang="en-US" altLang="en-US" b="1" dirty="0">
                <a:latin typeface="Arial" panose="020B0604020202020204" pitchFamily="34" charset="0"/>
              </a:rPr>
              <a:t>Advanced ML-Based Human Detection</a:t>
            </a:r>
            <a:br>
              <a:rPr lang="en-US" altLang="en-US" dirty="0">
                <a:latin typeface="Arial" panose="020B0604020202020204" pitchFamily="34" charset="0"/>
              </a:rPr>
            </a:br>
            <a:r>
              <a:rPr lang="en-US" altLang="en-US" dirty="0">
                <a:latin typeface="Arial" panose="020B0604020202020204" pitchFamily="34" charset="0"/>
              </a:rPr>
              <a:t>Utilizes real-time computer vision models (e.g., YOLO, OpenCV) for precise presence detection, outperforming traditional PIR or rule-based systems. </a:t>
            </a:r>
          </a:p>
          <a:p>
            <a:pPr lvl="0" defTabSz="914400" eaLnBrk="0" fontAlgn="base" hangingPunct="0">
              <a:spcBef>
                <a:spcPct val="0"/>
              </a:spcBef>
              <a:spcAft>
                <a:spcPct val="0"/>
              </a:spcAft>
              <a:buFontTx/>
              <a:buAutoNum type="arabicPeriod"/>
            </a:pPr>
            <a:r>
              <a:rPr lang="en-US" altLang="en-US" b="1" dirty="0">
                <a:latin typeface="Arial" panose="020B0604020202020204" pitchFamily="34" charset="0"/>
              </a:rPr>
              <a:t>Modular &amp; Scalable Architecture</a:t>
            </a:r>
            <a:br>
              <a:rPr lang="en-US" altLang="en-US" dirty="0">
                <a:latin typeface="Arial" panose="020B0604020202020204" pitchFamily="34" charset="0"/>
              </a:rPr>
            </a:br>
            <a:r>
              <a:rPr lang="en-US" altLang="en-US" dirty="0">
                <a:latin typeface="Arial" panose="020B0604020202020204" pitchFamily="34" charset="0"/>
              </a:rPr>
              <a:t>Designed for flexible deployment across varied lab configurations, overcoming limitations of centralized or rigid setups. </a:t>
            </a:r>
          </a:p>
          <a:p>
            <a:pPr lvl="0" defTabSz="914400" eaLnBrk="0" fontAlgn="base" hangingPunct="0">
              <a:spcBef>
                <a:spcPct val="0"/>
              </a:spcBef>
              <a:spcAft>
                <a:spcPct val="0"/>
              </a:spcAft>
              <a:buFontTx/>
              <a:buAutoNum type="arabicPeriod" startAt="2"/>
            </a:pPr>
            <a:r>
              <a:rPr lang="en-US" altLang="en-US" b="1" dirty="0">
                <a:latin typeface="Arial" panose="020B0604020202020204" pitchFamily="34" charset="0"/>
              </a:rPr>
              <a:t>Integrated Mobile Control Interface</a:t>
            </a:r>
            <a:br>
              <a:rPr lang="en-US" altLang="en-US" dirty="0">
                <a:latin typeface="Arial" panose="020B0604020202020204" pitchFamily="34" charset="0"/>
              </a:rPr>
            </a:br>
            <a:r>
              <a:rPr lang="en-US" altLang="en-US" dirty="0">
                <a:latin typeface="Arial" panose="020B0604020202020204" pitchFamily="34" charset="0"/>
              </a:rPr>
              <a:t>Offers remote monitoring and control via a dedicated mobile app, enhancing accessibility and user engagement. </a:t>
            </a:r>
          </a:p>
          <a:p>
            <a:pPr lvl="0" defTabSz="914400" eaLnBrk="0" fontAlgn="base" hangingPunct="0">
              <a:spcBef>
                <a:spcPct val="0"/>
              </a:spcBef>
              <a:spcAft>
                <a:spcPct val="0"/>
              </a:spcAft>
              <a:buFontTx/>
              <a:buAutoNum type="arabicPeriod" startAt="3"/>
            </a:pPr>
            <a:r>
              <a:rPr lang="en-US" altLang="en-US" b="1" dirty="0">
                <a:latin typeface="Arial" panose="020B0604020202020204" pitchFamily="34" charset="0"/>
              </a:rPr>
              <a:t>Energy-Efficient LED Automation with Smart Dimming</a:t>
            </a:r>
            <a:br>
              <a:rPr lang="en-US" altLang="en-US" dirty="0">
                <a:latin typeface="Arial" panose="020B0604020202020204" pitchFamily="34" charset="0"/>
              </a:rPr>
            </a:br>
            <a:r>
              <a:rPr lang="en-US" altLang="en-US" dirty="0">
                <a:latin typeface="Arial" panose="020B0604020202020204" pitchFamily="34" charset="0"/>
              </a:rPr>
              <a:t>Combines intelligent lighting control with adaptive dimming to optimize energy savings beyond basic on/off automation.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32512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49108-985E-7C45-F73D-4F3D5834FDEB}"/>
              </a:ext>
            </a:extLst>
          </p:cNvPr>
          <p:cNvSpPr>
            <a:spLocks noGrp="1"/>
          </p:cNvSpPr>
          <p:nvPr>
            <p:ph type="title"/>
          </p:nvPr>
        </p:nvSpPr>
        <p:spPr>
          <a:xfrm>
            <a:off x="677334" y="609600"/>
            <a:ext cx="8596668" cy="740229"/>
          </a:xfrm>
        </p:spPr>
        <p:txBody>
          <a:bodyPr/>
          <a:lstStyle/>
          <a:p>
            <a:r>
              <a:rPr lang="en-IN" altLang="en-US"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Technologies Stack</a:t>
            </a:r>
            <a:endParaRPr lang="en-IN" dirty="0"/>
          </a:p>
        </p:txBody>
      </p:sp>
      <p:sp>
        <p:nvSpPr>
          <p:cNvPr id="3" name="Content Placeholder 2">
            <a:extLst>
              <a:ext uri="{FF2B5EF4-FFF2-40B4-BE49-F238E27FC236}">
                <a16:creationId xmlns:a16="http://schemas.microsoft.com/office/drawing/2014/main" id="{87E767FB-72EE-7661-8F69-DC722CB98DAB}"/>
              </a:ext>
            </a:extLst>
          </p:cNvPr>
          <p:cNvSpPr>
            <a:spLocks noGrp="1"/>
          </p:cNvSpPr>
          <p:nvPr>
            <p:ph sz="half" idx="1"/>
          </p:nvPr>
        </p:nvSpPr>
        <p:spPr>
          <a:xfrm>
            <a:off x="677335" y="1412686"/>
            <a:ext cx="3885522" cy="4550019"/>
          </a:xfrm>
        </p:spPr>
        <p:txBody>
          <a:bodyPr>
            <a:noAutofit/>
          </a:bodyPr>
          <a:lstStyle/>
          <a:p>
            <a:pPr marL="0" indent="0">
              <a:lnSpc>
                <a:spcPct val="90000"/>
              </a:lnSpc>
              <a:spcAft>
                <a:spcPts val="600"/>
              </a:spcAft>
              <a:buClrTx/>
              <a:buNone/>
            </a:pPr>
            <a:r>
              <a:rPr lang="en-US" dirty="0">
                <a:solidFill>
                  <a:schemeClr val="tx1"/>
                </a:solidFill>
                <a:latin typeface="Times New Roman" panose="02020603050405020304" pitchFamily="18" charset="0"/>
                <a:cs typeface="Times New Roman" panose="02020603050405020304" pitchFamily="18" charset="0"/>
              </a:rPr>
              <a:t>1. Hardware Components</a:t>
            </a:r>
          </a:p>
          <a:p>
            <a:pPr marL="800100" lvl="1" indent="-342900">
              <a:lnSpc>
                <a:spcPct val="90000"/>
              </a:lnSpc>
              <a:spcAft>
                <a:spcPts val="600"/>
              </a:spcAft>
              <a:buClrTx/>
              <a:buFont typeface="+mj-lt"/>
              <a:buAutoNum type="arabicPeriod"/>
            </a:pPr>
            <a:r>
              <a:rPr lang="en-IN" sz="1800" dirty="0">
                <a:solidFill>
                  <a:schemeClr val="tx1"/>
                </a:solidFill>
                <a:latin typeface="Times New Roman" panose="02020603050405020304" pitchFamily="18" charset="0"/>
                <a:cs typeface="Times New Roman" panose="02020603050405020304" pitchFamily="18" charset="0"/>
              </a:rPr>
              <a:t>Raspberry Pi 5</a:t>
            </a:r>
          </a:p>
          <a:p>
            <a:pPr lvl="2">
              <a:lnSpc>
                <a:spcPct val="90000"/>
              </a:lnSpc>
              <a:spcAft>
                <a:spcPts val="600"/>
              </a:spcAft>
              <a:buClrTx/>
              <a:buFont typeface="Wingdings" panose="05000000000000000000" pitchFamily="2" charset="2"/>
              <a:buChar char="§"/>
            </a:pPr>
            <a:r>
              <a:rPr lang="en-IN" sz="1800" dirty="0">
                <a:solidFill>
                  <a:schemeClr val="tx1"/>
                </a:solidFill>
                <a:latin typeface="Times New Roman" panose="02020603050405020304" pitchFamily="18" charset="0"/>
                <a:cs typeface="Times New Roman" panose="02020603050405020304" pitchFamily="18" charset="0"/>
              </a:rPr>
              <a:t>Central controller and processing unit</a:t>
            </a:r>
          </a:p>
          <a:p>
            <a:pPr marL="800100" lvl="1" indent="-342900">
              <a:lnSpc>
                <a:spcPct val="90000"/>
              </a:lnSpc>
              <a:spcAft>
                <a:spcPts val="600"/>
              </a:spcAft>
              <a:buClrTx/>
              <a:buFont typeface="+mj-lt"/>
              <a:buAutoNum type="arabicPeriod"/>
            </a:pPr>
            <a:r>
              <a:rPr lang="en-IN" sz="1800" dirty="0">
                <a:solidFill>
                  <a:schemeClr val="tx1"/>
                </a:solidFill>
                <a:latin typeface="Times New Roman" panose="02020603050405020304" pitchFamily="18" charset="0"/>
                <a:cs typeface="Times New Roman" panose="02020603050405020304" pitchFamily="18" charset="0"/>
              </a:rPr>
              <a:t>Camera Module V3</a:t>
            </a:r>
          </a:p>
          <a:p>
            <a:pPr lvl="2">
              <a:lnSpc>
                <a:spcPct val="90000"/>
              </a:lnSpc>
              <a:spcAft>
                <a:spcPts val="600"/>
              </a:spcAft>
              <a:buClrTx/>
              <a:buFont typeface="Wingdings" panose="05000000000000000000" pitchFamily="2" charset="2"/>
              <a:buChar char="§"/>
            </a:pPr>
            <a:r>
              <a:rPr lang="en-IN" sz="1800" dirty="0">
                <a:solidFill>
                  <a:schemeClr val="tx1"/>
                </a:solidFill>
                <a:latin typeface="Times New Roman" panose="02020603050405020304" pitchFamily="18" charset="0"/>
                <a:cs typeface="Times New Roman" panose="02020603050405020304" pitchFamily="18" charset="0"/>
              </a:rPr>
              <a:t>Video capture for human detection</a:t>
            </a:r>
          </a:p>
          <a:p>
            <a:pPr marL="800100" lvl="1" indent="-342900">
              <a:lnSpc>
                <a:spcPct val="90000"/>
              </a:lnSpc>
              <a:spcAft>
                <a:spcPts val="600"/>
              </a:spcAft>
              <a:buClrTx/>
              <a:buFont typeface="+mj-lt"/>
              <a:buAutoNum type="arabicPeriod"/>
            </a:pPr>
            <a:r>
              <a:rPr lang="en-IN" sz="1800" dirty="0">
                <a:solidFill>
                  <a:schemeClr val="tx1"/>
                </a:solidFill>
                <a:latin typeface="Times New Roman" panose="02020603050405020304" pitchFamily="18" charset="0"/>
                <a:cs typeface="Times New Roman" panose="02020603050405020304" pitchFamily="18" charset="0"/>
              </a:rPr>
              <a:t>4-Channel Relay Module</a:t>
            </a:r>
          </a:p>
          <a:p>
            <a:pPr lvl="2">
              <a:lnSpc>
                <a:spcPct val="90000"/>
              </a:lnSpc>
              <a:spcAft>
                <a:spcPts val="600"/>
              </a:spcAft>
              <a:buClrTx/>
              <a:buFont typeface="Wingdings" panose="05000000000000000000" pitchFamily="2" charset="2"/>
              <a:buChar char="§"/>
            </a:pPr>
            <a:r>
              <a:rPr lang="en-IN" sz="1800" dirty="0">
                <a:solidFill>
                  <a:schemeClr val="tx1"/>
                </a:solidFill>
                <a:latin typeface="Times New Roman" panose="02020603050405020304" pitchFamily="18" charset="0"/>
                <a:cs typeface="Times New Roman" panose="02020603050405020304" pitchFamily="18" charset="0"/>
              </a:rPr>
              <a:t>Controls lighting circuits</a:t>
            </a:r>
          </a:p>
          <a:p>
            <a:pPr marL="800100" lvl="1" indent="-342900">
              <a:lnSpc>
                <a:spcPct val="90000"/>
              </a:lnSpc>
              <a:spcAft>
                <a:spcPts val="600"/>
              </a:spcAft>
              <a:buClrTx/>
              <a:buFont typeface="+mj-lt"/>
              <a:buAutoNum type="arabicPeriod"/>
            </a:pPr>
            <a:r>
              <a:rPr lang="en-IN" sz="1800" dirty="0">
                <a:solidFill>
                  <a:schemeClr val="tx1"/>
                </a:solidFill>
                <a:latin typeface="Times New Roman" panose="02020603050405020304" pitchFamily="18" charset="0"/>
                <a:cs typeface="Times New Roman" panose="02020603050405020304" pitchFamily="18" charset="0"/>
              </a:rPr>
              <a:t>LED Lighting System</a:t>
            </a:r>
          </a:p>
          <a:p>
            <a:pPr lvl="2">
              <a:lnSpc>
                <a:spcPct val="90000"/>
              </a:lnSpc>
              <a:spcAft>
                <a:spcPts val="600"/>
              </a:spcAft>
              <a:buClrTx/>
              <a:buFont typeface="Wingdings" panose="05000000000000000000" pitchFamily="2" charset="2"/>
              <a:buChar char="§"/>
            </a:pPr>
            <a:r>
              <a:rPr lang="en-IN" sz="1800" dirty="0">
                <a:solidFill>
                  <a:schemeClr val="tx1"/>
                </a:solidFill>
                <a:latin typeface="Times New Roman" panose="02020603050405020304" pitchFamily="18" charset="0"/>
                <a:cs typeface="Times New Roman" panose="02020603050405020304" pitchFamily="18" charset="0"/>
              </a:rPr>
              <a:t>Smart illumination control</a:t>
            </a:r>
          </a:p>
          <a:p>
            <a:pPr lvl="2">
              <a:lnSpc>
                <a:spcPct val="90000"/>
              </a:lnSpc>
              <a:spcAft>
                <a:spcPts val="600"/>
              </a:spcAft>
              <a:buClrTx/>
              <a:buFont typeface="Wingdings" panose="05000000000000000000" pitchFamily="2" charset="2"/>
              <a:buChar char="§"/>
            </a:pPr>
            <a:endParaRPr lang="en-IN" sz="1800" dirty="0">
              <a:solidFill>
                <a:schemeClr val="tx1"/>
              </a:solidFill>
              <a:latin typeface="Times New Roman" panose="02020603050405020304" pitchFamily="18" charset="0"/>
              <a:cs typeface="Times New Roman" panose="02020603050405020304" pitchFamily="18" charset="0"/>
            </a:endParaRPr>
          </a:p>
          <a:p>
            <a:pPr marL="914400" lvl="2" indent="0">
              <a:lnSpc>
                <a:spcPct val="90000"/>
              </a:lnSpc>
              <a:spcAft>
                <a:spcPts val="600"/>
              </a:spcAft>
              <a:buClrTx/>
              <a:buNone/>
            </a:pPr>
            <a:endParaRPr lang="en-IN" sz="18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ACE8D370-A478-8D9B-1F69-44A25AD77F1A}"/>
              </a:ext>
            </a:extLst>
          </p:cNvPr>
          <p:cNvSpPr>
            <a:spLocks noGrp="1"/>
          </p:cNvSpPr>
          <p:nvPr>
            <p:ph sz="half" idx="2"/>
          </p:nvPr>
        </p:nvSpPr>
        <p:spPr>
          <a:xfrm>
            <a:off x="5089968" y="1412686"/>
            <a:ext cx="4184034" cy="3880773"/>
          </a:xfrm>
        </p:spPr>
        <p:txBody>
          <a:bodyPr/>
          <a:lstStyle/>
          <a:p>
            <a:pPr marL="0" indent="0">
              <a:buNone/>
            </a:pPr>
            <a:r>
              <a:rPr lang="en-IN" dirty="0">
                <a:solidFill>
                  <a:schemeClr val="tx1"/>
                </a:solidFill>
                <a:latin typeface="Times New Roman" panose="02020603050405020304" pitchFamily="18" charset="0"/>
                <a:cs typeface="Times New Roman" panose="02020603050405020304" pitchFamily="18" charset="0"/>
              </a:rPr>
              <a:t>2. Development</a:t>
            </a:r>
          </a:p>
          <a:p>
            <a:pPr>
              <a:buClrTx/>
              <a:buFont typeface="Wingdings" panose="05000000000000000000" pitchFamily="2" charset="2"/>
              <a:buChar char="§"/>
            </a:pPr>
            <a:r>
              <a:rPr lang="en-IN" dirty="0">
                <a:solidFill>
                  <a:schemeClr val="tx1"/>
                </a:solidFill>
                <a:latin typeface="Times New Roman" panose="02020603050405020304" pitchFamily="18" charset="0"/>
                <a:cs typeface="Times New Roman" panose="02020603050405020304" pitchFamily="18" charset="0"/>
              </a:rPr>
              <a:t>Mobile App Framework</a:t>
            </a:r>
          </a:p>
        </p:txBody>
      </p:sp>
    </p:spTree>
    <p:extLst>
      <p:ext uri="{BB962C8B-B14F-4D97-AF65-F5344CB8AC3E}">
        <p14:creationId xmlns:p14="http://schemas.microsoft.com/office/powerpoint/2010/main" val="2349921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62C25-4772-2C89-80BF-73CFC36A0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386BA-66BC-848A-8811-A3922F743193}"/>
              </a:ext>
            </a:extLst>
          </p:cNvPr>
          <p:cNvSpPr>
            <a:spLocks noGrp="1"/>
          </p:cNvSpPr>
          <p:nvPr>
            <p:ph type="title"/>
          </p:nvPr>
        </p:nvSpPr>
        <p:spPr>
          <a:xfrm>
            <a:off x="677334" y="609600"/>
            <a:ext cx="8596668" cy="740229"/>
          </a:xfrm>
        </p:spPr>
        <p:txBody>
          <a:bodyPr/>
          <a:lstStyle/>
          <a:p>
            <a:r>
              <a:rPr lang="en-IN" altLang="en-US"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Technologies Stack</a:t>
            </a:r>
            <a:endParaRPr lang="en-IN" dirty="0"/>
          </a:p>
        </p:txBody>
      </p:sp>
      <p:sp>
        <p:nvSpPr>
          <p:cNvPr id="3" name="Content Placeholder 2">
            <a:extLst>
              <a:ext uri="{FF2B5EF4-FFF2-40B4-BE49-F238E27FC236}">
                <a16:creationId xmlns:a16="http://schemas.microsoft.com/office/drawing/2014/main" id="{1788F2C1-4B63-95EF-A728-F95DE7DB4702}"/>
              </a:ext>
            </a:extLst>
          </p:cNvPr>
          <p:cNvSpPr>
            <a:spLocks noGrp="1"/>
          </p:cNvSpPr>
          <p:nvPr>
            <p:ph sz="half" idx="1"/>
          </p:nvPr>
        </p:nvSpPr>
        <p:spPr>
          <a:xfrm>
            <a:off x="677335" y="1412686"/>
            <a:ext cx="3236298" cy="5353874"/>
          </a:xfrm>
        </p:spPr>
        <p:txBody>
          <a:bodyPr>
            <a:noAutofit/>
          </a:bodyPr>
          <a:lstStyle/>
          <a:p>
            <a:pPr marL="0" indent="0">
              <a:lnSpc>
                <a:spcPct val="90000"/>
              </a:lnSpc>
              <a:spcAft>
                <a:spcPts val="600"/>
              </a:spcAft>
              <a:buNone/>
            </a:pPr>
            <a:r>
              <a:rPr lang="en-US" sz="1600" dirty="0">
                <a:solidFill>
                  <a:schemeClr val="tx1"/>
                </a:solidFill>
                <a:latin typeface="Times New Roman" panose="02020603050405020304" pitchFamily="18" charset="0"/>
                <a:cs typeface="Times New Roman" panose="02020603050405020304" pitchFamily="18" charset="0"/>
              </a:rPr>
              <a:t>3</a:t>
            </a:r>
            <a:r>
              <a:rPr lang="en-US" dirty="0">
                <a:solidFill>
                  <a:schemeClr val="tx1"/>
                </a:solidFill>
                <a:latin typeface="Times New Roman" panose="02020603050405020304" pitchFamily="18" charset="0"/>
                <a:cs typeface="Times New Roman" panose="02020603050405020304" pitchFamily="18" charset="0"/>
              </a:rPr>
              <a:t>. Software Components</a:t>
            </a:r>
          </a:p>
          <a:p>
            <a:pPr>
              <a:lnSpc>
                <a:spcPct val="90000"/>
              </a:lnSpc>
              <a:spcAft>
                <a:spcPts val="600"/>
              </a:spcAft>
              <a:buClrTx/>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Programming</a:t>
            </a:r>
          </a:p>
          <a:p>
            <a:pPr>
              <a:lnSpc>
                <a:spcPct val="90000"/>
              </a:lnSpc>
              <a:spcAft>
                <a:spcPts val="600"/>
              </a:spcAft>
              <a:buClrTx/>
              <a:buFont typeface="Wingdings" panose="05000000000000000000" pitchFamily="2" charset="2"/>
              <a:buChar char="§"/>
            </a:pPr>
            <a:r>
              <a:rPr lang="en-IN" dirty="0">
                <a:solidFill>
                  <a:schemeClr val="tx1"/>
                </a:solidFill>
                <a:latin typeface="Times New Roman" panose="02020603050405020304" pitchFamily="18" charset="0"/>
                <a:cs typeface="Times New Roman" panose="02020603050405020304" pitchFamily="18" charset="0"/>
              </a:rPr>
              <a:t>Python 3.x</a:t>
            </a:r>
          </a:p>
          <a:p>
            <a:pPr>
              <a:lnSpc>
                <a:spcPct val="90000"/>
              </a:lnSpc>
              <a:spcAft>
                <a:spcPts val="600"/>
              </a:spcAft>
              <a:buClrTx/>
              <a:buFont typeface="Wingdings" panose="05000000000000000000" pitchFamily="2" charset="2"/>
              <a:buChar char="§"/>
            </a:pPr>
            <a:r>
              <a:rPr lang="en-IN" dirty="0">
                <a:solidFill>
                  <a:schemeClr val="tx1"/>
                </a:solidFill>
                <a:latin typeface="Times New Roman" panose="02020603050405020304" pitchFamily="18" charset="0"/>
                <a:cs typeface="Times New Roman" panose="02020603050405020304" pitchFamily="18" charset="0"/>
              </a:rPr>
              <a:t>Flask Web Framework</a:t>
            </a:r>
          </a:p>
          <a:p>
            <a:pPr>
              <a:lnSpc>
                <a:spcPct val="90000"/>
              </a:lnSpc>
              <a:spcAft>
                <a:spcPts val="600"/>
              </a:spcAft>
              <a:buClrTx/>
              <a:buFont typeface="Wingdings" panose="05000000000000000000" pitchFamily="2" charset="2"/>
              <a:buChar char="§"/>
            </a:pPr>
            <a:r>
              <a:rPr lang="en-IN" dirty="0">
                <a:solidFill>
                  <a:schemeClr val="tx1"/>
                </a:solidFill>
                <a:latin typeface="Times New Roman" panose="02020603050405020304" pitchFamily="18" charset="0"/>
                <a:cs typeface="Times New Roman" panose="02020603050405020304" pitchFamily="18" charset="0"/>
              </a:rPr>
              <a:t>SQLite Database</a:t>
            </a:r>
          </a:p>
          <a:p>
            <a:pPr marL="914400" lvl="2" indent="0">
              <a:lnSpc>
                <a:spcPct val="90000"/>
              </a:lnSpc>
              <a:spcAft>
                <a:spcPts val="600"/>
              </a:spcAft>
              <a:buClrTx/>
              <a:buNone/>
            </a:pPr>
            <a:endParaRPr lang="en-IN" sz="18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BD6A56DB-2AF9-F24F-BB13-FE67694E0A62}"/>
              </a:ext>
            </a:extLst>
          </p:cNvPr>
          <p:cNvSpPr txBox="1">
            <a:spLocks/>
          </p:cNvSpPr>
          <p:nvPr/>
        </p:nvSpPr>
        <p:spPr>
          <a:xfrm>
            <a:off x="4477851" y="1349829"/>
            <a:ext cx="3236298" cy="535387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90000"/>
              </a:lnSpc>
              <a:spcAft>
                <a:spcPts val="600"/>
              </a:spcAft>
              <a:buClrTx/>
              <a:buNone/>
            </a:pPr>
            <a:r>
              <a:rPr lang="en-US" dirty="0">
                <a:solidFill>
                  <a:schemeClr val="tx1"/>
                </a:solidFill>
                <a:latin typeface="Times New Roman" panose="02020603050405020304" pitchFamily="18" charset="0"/>
                <a:cs typeface="Times New Roman" panose="02020603050405020304" pitchFamily="18" charset="0"/>
              </a:rPr>
              <a:t>4. Computer Vision</a:t>
            </a:r>
          </a:p>
          <a:p>
            <a:pPr algn="just">
              <a:lnSpc>
                <a:spcPct val="90000"/>
              </a:lnSpc>
              <a:spcAft>
                <a:spcPts val="600"/>
              </a:spcAft>
              <a:buClrTx/>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Open CV</a:t>
            </a:r>
          </a:p>
          <a:p>
            <a:pPr>
              <a:lnSpc>
                <a:spcPct val="90000"/>
              </a:lnSpc>
              <a:spcAft>
                <a:spcPts val="600"/>
              </a:spcAft>
              <a:buClrTx/>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TensorFlow lite</a:t>
            </a:r>
          </a:p>
          <a:p>
            <a:pPr>
              <a:lnSpc>
                <a:spcPct val="90000"/>
              </a:lnSpc>
              <a:spcAft>
                <a:spcPts val="600"/>
              </a:spcAft>
              <a:buClrTx/>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Yolo Detection Models</a:t>
            </a:r>
          </a:p>
          <a:p>
            <a:pPr marL="0" indent="0" algn="just">
              <a:lnSpc>
                <a:spcPct val="90000"/>
              </a:lnSpc>
              <a:spcAft>
                <a:spcPts val="600"/>
              </a:spcAft>
              <a:buClrTx/>
              <a:buNone/>
            </a:pPr>
            <a:r>
              <a:rPr lang="en-US" dirty="0">
                <a:solidFill>
                  <a:schemeClr val="tx1"/>
                </a:solidFill>
                <a:latin typeface="Times New Roman" panose="02020603050405020304" pitchFamily="18" charset="0"/>
                <a:cs typeface="Times New Roman" panose="02020603050405020304" pitchFamily="18" charset="0"/>
              </a:rPr>
              <a:t>5. IoT Platform</a:t>
            </a:r>
          </a:p>
          <a:p>
            <a:pPr algn="just">
              <a:lnSpc>
                <a:spcPct val="90000"/>
              </a:lnSpc>
              <a:spcAft>
                <a:spcPts val="600"/>
              </a:spcAft>
              <a:buClrTx/>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Raspberry Pi OS</a:t>
            </a:r>
          </a:p>
          <a:p>
            <a:pPr algn="just">
              <a:lnSpc>
                <a:spcPct val="90000"/>
              </a:lnSpc>
              <a:spcAft>
                <a:spcPts val="600"/>
              </a:spcAft>
              <a:buClrTx/>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GPIO control Libraries</a:t>
            </a:r>
          </a:p>
          <a:p>
            <a:pPr algn="just">
              <a:lnSpc>
                <a:spcPct val="90000"/>
              </a:lnSpc>
              <a:spcAft>
                <a:spcPts val="600"/>
              </a:spcAft>
              <a:buClrTx/>
              <a:buFont typeface="Wingdings" panose="05000000000000000000" pitchFamily="2" charset="2"/>
              <a:buChar char="§"/>
            </a:pPr>
            <a:r>
              <a:rPr lang="en-US" dirty="0" err="1">
                <a:solidFill>
                  <a:schemeClr val="tx1"/>
                </a:solidFill>
                <a:latin typeface="Times New Roman" panose="02020603050405020304" pitchFamily="18" charset="0"/>
                <a:cs typeface="Times New Roman" panose="02020603050405020304" pitchFamily="18" charset="0"/>
              </a:rPr>
              <a:t>Wifi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Conectivity</a:t>
            </a:r>
            <a:endParaRPr lang="en-IN" dirty="0">
              <a:solidFill>
                <a:schemeClr val="tx1"/>
              </a:solidFill>
              <a:latin typeface="Times New Roman" panose="02020603050405020304" pitchFamily="18" charset="0"/>
              <a:cs typeface="Times New Roman" panose="02020603050405020304" pitchFamily="18" charset="0"/>
            </a:endParaRPr>
          </a:p>
          <a:p>
            <a:pPr marL="914400" lvl="2" indent="0">
              <a:lnSpc>
                <a:spcPct val="90000"/>
              </a:lnSpc>
              <a:spcAft>
                <a:spcPts val="600"/>
              </a:spcAft>
              <a:buClrTx/>
              <a:buFont typeface="Wingdings 3" charset="2"/>
              <a:buNone/>
            </a:pPr>
            <a:endParaRPr lang="en-IN" sz="1800" dirty="0">
              <a:solidFill>
                <a:schemeClr val="tx1"/>
              </a:solidFill>
              <a:latin typeface="Times New Roman" panose="02020603050405020304" pitchFamily="18" charset="0"/>
              <a:cs typeface="Times New Roman" panose="02020603050405020304" pitchFamily="18" charset="0"/>
            </a:endParaRPr>
          </a:p>
          <a:p>
            <a:pPr marL="0" indent="0">
              <a:buFont typeface="Wingdings 3" charset="2"/>
              <a:buNone/>
            </a:pP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1531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3A9F0-D63B-0AF0-9B7F-DE589DE51940}"/>
            </a:ext>
          </a:extLst>
        </p:cNvPr>
        <p:cNvGrpSpPr/>
        <p:nvPr/>
      </p:nvGrpSpPr>
      <p:grpSpPr>
        <a:xfrm>
          <a:off x="0" y="0"/>
          <a:ext cx="0" cy="0"/>
          <a:chOff x="0" y="0"/>
          <a:chExt cx="0" cy="0"/>
        </a:xfrm>
      </p:grpSpPr>
      <p:sp>
        <p:nvSpPr>
          <p:cNvPr id="8194" name="Rectangle 1">
            <a:extLst>
              <a:ext uri="{FF2B5EF4-FFF2-40B4-BE49-F238E27FC236}">
                <a16:creationId xmlns:a16="http://schemas.microsoft.com/office/drawing/2014/main" id="{88F015E0-5552-F438-3110-0404F5F4B2E3}"/>
              </a:ext>
            </a:extLst>
          </p:cNvPr>
          <p:cNvSpPr>
            <a:spLocks noChangeArrowheads="1"/>
          </p:cNvSpPr>
          <p:nvPr/>
        </p:nvSpPr>
        <p:spPr bwMode="auto">
          <a:xfrm>
            <a:off x="1020421" y="388335"/>
            <a:ext cx="8229024" cy="1144921"/>
          </a:xfrm>
          <a:prstGeom prst="rect">
            <a:avLst/>
          </a:prstGeom>
          <a:noFill/>
          <a:ln>
            <a:noFill/>
          </a:ln>
          <a:effectLst/>
        </p:spPr>
        <p:txBody>
          <a:bodyPr lIns="0" tIns="2874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defRPr/>
            </a:pPr>
            <a:r>
              <a:rPr lang="en-IN" altLang="en-US" sz="3629"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SDG Goal Alignment</a:t>
            </a:r>
            <a:endParaRPr lang="en-IN" altLang="en-US" sz="3266"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4" name="Rectangle 3">
            <a:extLst>
              <a:ext uri="{FF2B5EF4-FFF2-40B4-BE49-F238E27FC236}">
                <a16:creationId xmlns:a16="http://schemas.microsoft.com/office/drawing/2014/main" id="{2133780C-3D68-8467-738B-E4D06CB0BB11}"/>
              </a:ext>
            </a:extLst>
          </p:cNvPr>
          <p:cNvSpPr>
            <a:spLocks noChangeArrowheads="1"/>
          </p:cNvSpPr>
          <p:nvPr/>
        </p:nvSpPr>
        <p:spPr bwMode="auto">
          <a:xfrm>
            <a:off x="768101" y="1341551"/>
            <a:ext cx="801014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600" b="1" dirty="0"/>
              <a:t>7. </a:t>
            </a:r>
            <a:r>
              <a:rPr lang="en-US" sz="1600" dirty="0"/>
              <a:t>Affordable and Clean Energy</a:t>
            </a:r>
          </a:p>
          <a:p>
            <a:pPr algn="just"/>
            <a:r>
              <a:rPr lang="en-US" sz="1600" dirty="0"/>
              <a:t>35-70% reduction in lighting energy consumption through smart automation and efficient LED technology implementation.</a:t>
            </a:r>
          </a:p>
          <a:p>
            <a:pPr algn="just"/>
            <a:endParaRPr lang="en-US" sz="1600" dirty="0"/>
          </a:p>
          <a:p>
            <a:pPr algn="just"/>
            <a:r>
              <a:rPr lang="en-US" sz="1600" b="1" dirty="0"/>
              <a:t>9. </a:t>
            </a:r>
            <a:r>
              <a:rPr lang="en-US" sz="1600" dirty="0"/>
              <a:t>Industry, Innovation and Infrastructure</a:t>
            </a:r>
          </a:p>
          <a:p>
            <a:pPr algn="just"/>
            <a:r>
              <a:rPr lang="en-US" sz="1600" dirty="0"/>
              <a:t>Advanced IoT and ML implementation creating smart laboratory infrastructure with cutting-edge technology.</a:t>
            </a:r>
          </a:p>
          <a:p>
            <a:pPr algn="just"/>
            <a:endParaRPr lang="en-US" sz="1600" dirty="0"/>
          </a:p>
          <a:p>
            <a:pPr algn="just"/>
            <a:r>
              <a:rPr lang="en-US" sz="1600" b="1" dirty="0"/>
              <a:t>11. </a:t>
            </a:r>
            <a:r>
              <a:rPr lang="en-US" sz="1600" dirty="0"/>
              <a:t>Sustainable Cities and Communities</a:t>
            </a:r>
          </a:p>
          <a:p>
            <a:pPr algn="just"/>
            <a:r>
              <a:rPr lang="en-US" sz="1600" dirty="0"/>
              <a:t>Smart building systems improving safety, efficiency and sustainable resource management practices.</a:t>
            </a:r>
          </a:p>
          <a:p>
            <a:pPr algn="just"/>
            <a:endParaRPr lang="en-US" sz="1600" dirty="0"/>
          </a:p>
          <a:p>
            <a:pPr algn="just"/>
            <a:r>
              <a:rPr lang="en-US" sz="1600" b="1" dirty="0"/>
              <a:t>12. </a:t>
            </a:r>
            <a:r>
              <a:rPr lang="en-US" sz="1600" dirty="0"/>
              <a:t>Responsible Consumption and Production</a:t>
            </a:r>
          </a:p>
          <a:p>
            <a:pPr algn="just"/>
            <a:r>
              <a:rPr lang="en-US" sz="1600" dirty="0"/>
              <a:t>Elimination of energy waste through precise control and intelligent monitoring systems.</a:t>
            </a:r>
          </a:p>
          <a:p>
            <a:pPr algn="just"/>
            <a:endParaRPr lang="en-US" sz="1600" dirty="0"/>
          </a:p>
          <a:p>
            <a:pPr algn="just"/>
            <a:r>
              <a:rPr lang="en-US" sz="1600" b="1" dirty="0"/>
              <a:t>13. </a:t>
            </a:r>
            <a:r>
              <a:rPr lang="en-US" sz="1600" dirty="0"/>
              <a:t>Climate Action</a:t>
            </a:r>
          </a:p>
          <a:p>
            <a:pPr algn="just"/>
            <a:r>
              <a:rPr lang="en-US" sz="1600" dirty="0"/>
              <a:t>Significant reduction in carbon footprint and environmental impact through intelligent energy savings</a:t>
            </a:r>
          </a:p>
          <a:p>
            <a:endParaRPr lang="en-IN"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58864A19-75E0-7D6F-D8A8-B21FB7CE7642}"/>
              </a:ext>
            </a:extLst>
          </p:cNvPr>
          <p:cNvPicPr>
            <a:picLocks noChangeAspect="1" noChangeArrowheads="1"/>
          </p:cNvPicPr>
          <p:nvPr/>
        </p:nvPicPr>
        <p:blipFill rotWithShape="1">
          <a:blip r:embed="rId3">
            <a:alphaModFix/>
            <a:extLst>
              <a:ext uri="{28A0092B-C50C-407E-A947-70E740481C1C}">
                <a14:useLocalDpi xmlns:a14="http://schemas.microsoft.com/office/drawing/2010/main" val="0"/>
              </a:ext>
            </a:extLst>
          </a:blip>
          <a:srcRect l="29052" t="7188" r="30349" b="5759"/>
          <a:stretch>
            <a:fillRect/>
          </a:stretch>
        </p:blipFill>
        <p:spPr bwMode="auto">
          <a:xfrm>
            <a:off x="9501765" y="1140352"/>
            <a:ext cx="996696" cy="99669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F671887-E3FF-189A-D8CD-7A94870E22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01764" y="2210063"/>
            <a:ext cx="996697" cy="996697"/>
          </a:xfrm>
          <a:prstGeom prst="rect">
            <a:avLst/>
          </a:prstGeom>
        </p:spPr>
      </p:pic>
      <p:pic>
        <p:nvPicPr>
          <p:cNvPr id="8" name="Picture 7">
            <a:extLst>
              <a:ext uri="{FF2B5EF4-FFF2-40B4-BE49-F238E27FC236}">
                <a16:creationId xmlns:a16="http://schemas.microsoft.com/office/drawing/2014/main" id="{74B12A22-93D1-A810-5C40-4171BE10C1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01764" y="3279775"/>
            <a:ext cx="996697" cy="996697"/>
          </a:xfrm>
          <a:prstGeom prst="rect">
            <a:avLst/>
          </a:prstGeom>
        </p:spPr>
      </p:pic>
      <p:pic>
        <p:nvPicPr>
          <p:cNvPr id="10" name="Picture 9">
            <a:extLst>
              <a:ext uri="{FF2B5EF4-FFF2-40B4-BE49-F238E27FC236}">
                <a16:creationId xmlns:a16="http://schemas.microsoft.com/office/drawing/2014/main" id="{6727E402-FBBD-D29B-0723-17414299B3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1763" y="4349486"/>
            <a:ext cx="996697" cy="996697"/>
          </a:xfrm>
          <a:prstGeom prst="rect">
            <a:avLst/>
          </a:prstGeom>
        </p:spPr>
      </p:pic>
      <p:pic>
        <p:nvPicPr>
          <p:cNvPr id="12" name="Picture 11">
            <a:extLst>
              <a:ext uri="{FF2B5EF4-FFF2-40B4-BE49-F238E27FC236}">
                <a16:creationId xmlns:a16="http://schemas.microsoft.com/office/drawing/2014/main" id="{4A625CD2-C6D8-1D2C-B9A2-E66ADCBF03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01763" y="5419197"/>
            <a:ext cx="996697" cy="996697"/>
          </a:xfrm>
          <a:prstGeom prst="rect">
            <a:avLst/>
          </a:prstGeom>
        </p:spPr>
      </p:pic>
    </p:spTree>
    <p:extLst>
      <p:ext uri="{BB962C8B-B14F-4D97-AF65-F5344CB8AC3E}">
        <p14:creationId xmlns:p14="http://schemas.microsoft.com/office/powerpoint/2010/main" val="16623041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60F10-043D-1497-EBC0-B9331308F64C}"/>
              </a:ext>
            </a:extLst>
          </p:cNvPr>
          <p:cNvSpPr>
            <a:spLocks noGrp="1"/>
          </p:cNvSpPr>
          <p:nvPr>
            <p:ph type="title"/>
          </p:nvPr>
        </p:nvSpPr>
        <p:spPr>
          <a:xfrm>
            <a:off x="677334" y="609600"/>
            <a:ext cx="8596668" cy="571928"/>
          </a:xfrm>
        </p:spPr>
        <p:txBody>
          <a:bodyPr>
            <a:normAutofit fontScale="90000"/>
          </a:bodyPr>
          <a:lstStyle/>
          <a:p>
            <a:r>
              <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FF777579-1707-338F-DD12-CEFD74B73796}"/>
              </a:ext>
            </a:extLst>
          </p:cNvPr>
          <p:cNvSpPr>
            <a:spLocks noGrp="1"/>
          </p:cNvSpPr>
          <p:nvPr>
            <p:ph idx="1"/>
          </p:nvPr>
        </p:nvSpPr>
        <p:spPr>
          <a:xfrm>
            <a:off x="677334" y="1417834"/>
            <a:ext cx="9335346" cy="4623528"/>
          </a:xfrm>
        </p:spPr>
        <p:txBody>
          <a:bodyPr>
            <a:normAutofit/>
          </a:bodyPr>
          <a:lstStyle/>
          <a:p>
            <a:pPr marL="0" indent="0" algn="just">
              <a:buClr>
                <a:schemeClr val="tx1"/>
              </a:buClr>
              <a:buNone/>
            </a:pPr>
            <a:endParaRPr lang="en-US" dirty="0">
              <a:solidFill>
                <a:schemeClr val="tx1"/>
              </a:solidFill>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buClrTx/>
              <a:buSzTx/>
              <a:buFont typeface="+mj-lt"/>
              <a:buAutoNum type="arabicPeriod"/>
            </a:pPr>
            <a:r>
              <a:rPr lang="en-US" altLang="en-US" b="1" dirty="0">
                <a:solidFill>
                  <a:schemeClr val="tx1"/>
                </a:solidFill>
                <a:latin typeface="Times New Roman" panose="02020603050405020304" pitchFamily="18" charset="0"/>
                <a:cs typeface="Times New Roman" panose="02020603050405020304" pitchFamily="18" charset="0"/>
              </a:rPr>
              <a:t>Multi-Sensor Fusion for Enhanced Accuracy</a:t>
            </a:r>
            <a:br>
              <a:rPr lang="en-US" altLang="en-US" dirty="0">
                <a:solidFill>
                  <a:schemeClr val="tx1"/>
                </a:solidFill>
                <a:latin typeface="Times New Roman" panose="02020603050405020304" pitchFamily="18" charset="0"/>
                <a:cs typeface="Times New Roman" panose="02020603050405020304" pitchFamily="18" charset="0"/>
              </a:rPr>
            </a:br>
            <a:r>
              <a:rPr lang="en-US" altLang="en-US" dirty="0">
                <a:solidFill>
                  <a:schemeClr val="tx1"/>
                </a:solidFill>
                <a:latin typeface="Times New Roman" panose="02020603050405020304" pitchFamily="18" charset="0"/>
                <a:cs typeface="Times New Roman" panose="02020603050405020304" pitchFamily="18" charset="0"/>
              </a:rPr>
              <a:t>Integrate thermal, ultrasonic, and ambient sensors alongside computer vision to improve human detection reliability in varied lighting and occupancy conditions. </a:t>
            </a:r>
          </a:p>
          <a:p>
            <a:pPr lvl="0" defTabSz="914400" eaLnBrk="0" fontAlgn="base" hangingPunct="0">
              <a:spcBef>
                <a:spcPct val="0"/>
              </a:spcBef>
              <a:spcAft>
                <a:spcPct val="0"/>
              </a:spcAft>
              <a:buClrTx/>
              <a:buSzTx/>
              <a:buFont typeface="+mj-lt"/>
              <a:buAutoNum type="arabicPeriod"/>
            </a:pPr>
            <a:r>
              <a:rPr lang="en-US" altLang="en-US" b="1" dirty="0">
                <a:solidFill>
                  <a:schemeClr val="tx1"/>
                </a:solidFill>
                <a:latin typeface="Times New Roman" panose="02020603050405020304" pitchFamily="18" charset="0"/>
                <a:cs typeface="Times New Roman" panose="02020603050405020304" pitchFamily="18" charset="0"/>
              </a:rPr>
              <a:t>Edge AI Optimization</a:t>
            </a:r>
            <a:br>
              <a:rPr lang="en-US" altLang="en-US" dirty="0">
                <a:solidFill>
                  <a:schemeClr val="tx1"/>
                </a:solidFill>
                <a:latin typeface="Times New Roman" panose="02020603050405020304" pitchFamily="18" charset="0"/>
                <a:cs typeface="Times New Roman" panose="02020603050405020304" pitchFamily="18" charset="0"/>
              </a:rPr>
            </a:br>
            <a:r>
              <a:rPr lang="en-US" altLang="en-US" dirty="0">
                <a:solidFill>
                  <a:schemeClr val="tx1"/>
                </a:solidFill>
                <a:latin typeface="Times New Roman" panose="02020603050405020304" pitchFamily="18" charset="0"/>
                <a:cs typeface="Times New Roman" panose="02020603050405020304" pitchFamily="18" charset="0"/>
              </a:rPr>
              <a:t>Deploy lightweight ML models (e.g., YOLO-Nano, </a:t>
            </a:r>
            <a:r>
              <a:rPr lang="en-US" altLang="en-US" dirty="0" err="1">
                <a:solidFill>
                  <a:schemeClr val="tx1"/>
                </a:solidFill>
                <a:latin typeface="Times New Roman" panose="02020603050405020304" pitchFamily="18" charset="0"/>
                <a:cs typeface="Times New Roman" panose="02020603050405020304" pitchFamily="18" charset="0"/>
              </a:rPr>
              <a:t>MobileNet</a:t>
            </a:r>
            <a:r>
              <a:rPr lang="en-US" altLang="en-US" dirty="0">
                <a:solidFill>
                  <a:schemeClr val="tx1"/>
                </a:solidFill>
                <a:latin typeface="Times New Roman" panose="02020603050405020304" pitchFamily="18" charset="0"/>
                <a:cs typeface="Times New Roman" panose="02020603050405020304" pitchFamily="18" charset="0"/>
              </a:rPr>
              <a:t>) for faster inference directly on Raspberry Pi, reducing cloud dependency and latency. </a:t>
            </a:r>
          </a:p>
          <a:p>
            <a:pPr lvl="0" defTabSz="914400" eaLnBrk="0" fontAlgn="base" hangingPunct="0">
              <a:spcBef>
                <a:spcPct val="0"/>
              </a:spcBef>
              <a:spcAft>
                <a:spcPct val="0"/>
              </a:spcAft>
              <a:buClrTx/>
              <a:buSzTx/>
              <a:buFont typeface="+mj-lt"/>
              <a:buAutoNum type="arabicPeriod"/>
            </a:pPr>
            <a:r>
              <a:rPr lang="en-US" altLang="en-US" b="1" dirty="0">
                <a:solidFill>
                  <a:schemeClr val="tx1"/>
                </a:solidFill>
                <a:latin typeface="Times New Roman" panose="02020603050405020304" pitchFamily="18" charset="0"/>
                <a:cs typeface="Times New Roman" panose="02020603050405020304" pitchFamily="18" charset="0"/>
              </a:rPr>
              <a:t>Adaptive Learning System</a:t>
            </a:r>
            <a:br>
              <a:rPr lang="en-US" altLang="en-US" dirty="0">
                <a:solidFill>
                  <a:schemeClr val="tx1"/>
                </a:solidFill>
                <a:latin typeface="Times New Roman" panose="02020603050405020304" pitchFamily="18" charset="0"/>
                <a:cs typeface="Times New Roman" panose="02020603050405020304" pitchFamily="18" charset="0"/>
              </a:rPr>
            </a:br>
            <a:r>
              <a:rPr lang="en-US" altLang="en-US" dirty="0">
                <a:solidFill>
                  <a:schemeClr val="tx1"/>
                </a:solidFill>
                <a:latin typeface="Times New Roman" panose="02020603050405020304" pitchFamily="18" charset="0"/>
                <a:cs typeface="Times New Roman" panose="02020603050405020304" pitchFamily="18" charset="0"/>
              </a:rPr>
              <a:t>Implement reinforcement learning to allow the system to adapt to user behavior and optimize energy usage dynamically over time. </a:t>
            </a:r>
          </a:p>
          <a:p>
            <a:pPr lvl="0" defTabSz="914400" eaLnBrk="0" fontAlgn="base" hangingPunct="0">
              <a:spcBef>
                <a:spcPct val="0"/>
              </a:spcBef>
              <a:spcAft>
                <a:spcPct val="0"/>
              </a:spcAft>
              <a:buClrTx/>
              <a:buSzTx/>
              <a:buFont typeface="+mj-lt"/>
              <a:buAutoNum type="arabicPeriod"/>
            </a:pPr>
            <a:r>
              <a:rPr lang="en-US" altLang="en-US" b="1" dirty="0">
                <a:solidFill>
                  <a:schemeClr val="tx1"/>
                </a:solidFill>
                <a:latin typeface="Times New Roman" panose="02020603050405020304" pitchFamily="18" charset="0"/>
                <a:cs typeface="Times New Roman" panose="02020603050405020304" pitchFamily="18" charset="0"/>
              </a:rPr>
              <a:t>Voice and Gesture-Based Control</a:t>
            </a:r>
            <a:br>
              <a:rPr lang="en-US" altLang="en-US" dirty="0">
                <a:solidFill>
                  <a:schemeClr val="tx1"/>
                </a:solidFill>
                <a:latin typeface="Times New Roman" panose="02020603050405020304" pitchFamily="18" charset="0"/>
                <a:cs typeface="Times New Roman" panose="02020603050405020304" pitchFamily="18" charset="0"/>
              </a:rPr>
            </a:br>
            <a:r>
              <a:rPr lang="en-US" altLang="en-US" dirty="0">
                <a:solidFill>
                  <a:schemeClr val="tx1"/>
                </a:solidFill>
                <a:latin typeface="Times New Roman" panose="02020603050405020304" pitchFamily="18" charset="0"/>
                <a:cs typeface="Times New Roman" panose="02020603050405020304" pitchFamily="18" charset="0"/>
              </a:rPr>
              <a:t>Add multimodal interfaces using voice commands and gesture recognition for hands-free lab interaction and accessibility. </a:t>
            </a:r>
          </a:p>
          <a:p>
            <a:pPr algn="just">
              <a:buClr>
                <a:schemeClr val="tx1"/>
              </a:buClr>
              <a:buFont typeface="+mj-lt"/>
              <a:buAutoNum type="arabicPeriod"/>
            </a:pP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8948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914FD-E8A5-4DC7-2BC2-54A72F0A9AC7}"/>
              </a:ext>
            </a:extLst>
          </p:cNvPr>
          <p:cNvSpPr>
            <a:spLocks noGrp="1"/>
          </p:cNvSpPr>
          <p:nvPr>
            <p:ph type="title"/>
          </p:nvPr>
        </p:nvSpPr>
        <p:spPr>
          <a:xfrm>
            <a:off x="677334" y="609600"/>
            <a:ext cx="8596668" cy="767137"/>
          </a:xfrm>
        </p:spPr>
        <p:txBody>
          <a:bodyPr/>
          <a:lstStyle/>
          <a:p>
            <a:r>
              <a:rPr lang="en-IN" alt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References</a:t>
            </a:r>
            <a:endPar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3C65E3-A65B-78A5-1D72-D5BE3A56BDCC}"/>
              </a:ext>
            </a:extLst>
          </p:cNvPr>
          <p:cNvSpPr>
            <a:spLocks noGrp="1"/>
          </p:cNvSpPr>
          <p:nvPr>
            <p:ph idx="1"/>
          </p:nvPr>
        </p:nvSpPr>
        <p:spPr>
          <a:xfrm>
            <a:off x="677334" y="1469103"/>
            <a:ext cx="9198186" cy="5004849"/>
          </a:xfrm>
        </p:spPr>
        <p:txBody>
          <a:bodyPr>
            <a:normAutofit/>
          </a:bodyPr>
          <a:lstStyle/>
          <a:p>
            <a:pPr algn="just">
              <a:buClr>
                <a:schemeClr val="tx1"/>
              </a:buClr>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Sakshi Y. Tupe et al., Sangram S. </a:t>
            </a:r>
            <a:r>
              <a:rPr lang="en-US" sz="2000" dirty="0" err="1">
                <a:solidFill>
                  <a:schemeClr val="tx1"/>
                </a:solidFill>
                <a:latin typeface="Times New Roman" panose="02020603050405020304" pitchFamily="18" charset="0"/>
                <a:cs typeface="Times New Roman" panose="02020603050405020304" pitchFamily="18" charset="0"/>
              </a:rPr>
              <a:t>Kashid</a:t>
            </a:r>
            <a:r>
              <a:rPr lang="en-US" sz="2000" dirty="0">
                <a:solidFill>
                  <a:schemeClr val="tx1"/>
                </a:solidFill>
                <a:latin typeface="Times New Roman" panose="02020603050405020304" pitchFamily="18" charset="0"/>
                <a:cs typeface="Times New Roman" panose="02020603050405020304" pitchFamily="18" charset="0"/>
              </a:rPr>
              <a:t>, Shreyash S. </a:t>
            </a:r>
            <a:r>
              <a:rPr lang="en-US" sz="2000" dirty="0" err="1">
                <a:solidFill>
                  <a:schemeClr val="tx1"/>
                </a:solidFill>
                <a:latin typeface="Times New Roman" panose="02020603050405020304" pitchFamily="18" charset="0"/>
                <a:cs typeface="Times New Roman" panose="02020603050405020304" pitchFamily="18" charset="0"/>
              </a:rPr>
              <a:t>Jamdade</a:t>
            </a:r>
            <a:r>
              <a:rPr lang="en-US" sz="2000" dirty="0">
                <a:solidFill>
                  <a:schemeClr val="tx1"/>
                </a:solidFill>
                <a:latin typeface="Times New Roman" panose="02020603050405020304" pitchFamily="18" charset="0"/>
                <a:cs typeface="Times New Roman" panose="02020603050405020304" pitchFamily="18" charset="0"/>
              </a:rPr>
              <a:t>, Shreyash S. Jadhav, and S.S. Ghatage, </a:t>
            </a:r>
            <a:r>
              <a:rPr lang="en-US" sz="2000" b="1" dirty="0">
                <a:solidFill>
                  <a:schemeClr val="tx1"/>
                </a:solidFill>
                <a:latin typeface="Times New Roman" panose="02020603050405020304" pitchFamily="18" charset="0"/>
                <a:cs typeface="Times New Roman" panose="02020603050405020304" pitchFamily="18" charset="0"/>
              </a:rPr>
              <a:t>Computer Lab Automation System</a:t>
            </a:r>
            <a:r>
              <a:rPr lang="en-US" sz="2000" dirty="0">
                <a:solidFill>
                  <a:schemeClr val="tx1"/>
                </a:solidFill>
                <a:latin typeface="Times New Roman" panose="02020603050405020304" pitchFamily="18" charset="0"/>
                <a:cs typeface="Times New Roman" panose="02020603050405020304" pitchFamily="18" charset="0"/>
              </a:rPr>
              <a:t>, IARJSET, Vol. 12, Special Issue 1, Article AITCON-14, </a:t>
            </a:r>
            <a:r>
              <a:rPr lang="en-US" sz="2000" b="1" dirty="0">
                <a:solidFill>
                  <a:schemeClr val="tx1"/>
                </a:solidFill>
                <a:latin typeface="Times New Roman" panose="02020603050405020304" pitchFamily="18" charset="0"/>
                <a:cs typeface="Times New Roman" panose="02020603050405020304" pitchFamily="18" charset="0"/>
              </a:rPr>
              <a:t>2025</a:t>
            </a:r>
            <a:r>
              <a:rPr lang="en-US" sz="2000" dirty="0">
                <a:solidFill>
                  <a:schemeClr val="tx1"/>
                </a:solidFill>
                <a:latin typeface="Times New Roman" panose="02020603050405020304" pitchFamily="18" charset="0"/>
                <a:cs typeface="Times New Roman" panose="02020603050405020304" pitchFamily="18" charset="0"/>
              </a:rPr>
              <a:t>.</a:t>
            </a:r>
          </a:p>
          <a:p>
            <a:pPr algn="just">
              <a:buClr>
                <a:schemeClr val="tx1"/>
              </a:buClr>
              <a:buFont typeface="+mj-lt"/>
              <a:buAutoNum type="arabicPeriod"/>
            </a:pPr>
            <a:r>
              <a:rPr lang="en-GB" sz="2000" dirty="0">
                <a:solidFill>
                  <a:schemeClr val="tx1"/>
                </a:solidFill>
                <a:latin typeface="Times New Roman" panose="02020603050405020304" pitchFamily="18" charset="0"/>
                <a:cs typeface="Times New Roman" panose="02020603050405020304" pitchFamily="18" charset="0"/>
              </a:rPr>
              <a:t>- K. </a:t>
            </a:r>
            <a:r>
              <a:rPr lang="en-GB" sz="2000" dirty="0" err="1">
                <a:solidFill>
                  <a:schemeClr val="tx1"/>
                </a:solidFill>
                <a:latin typeface="Times New Roman" panose="02020603050405020304" pitchFamily="18" charset="0"/>
                <a:cs typeface="Times New Roman" panose="02020603050405020304" pitchFamily="18" charset="0"/>
              </a:rPr>
              <a:t>Trikoupis</a:t>
            </a:r>
            <a:r>
              <a:rPr lang="en-GB" sz="2000" dirty="0">
                <a:solidFill>
                  <a:schemeClr val="tx1"/>
                </a:solidFill>
                <a:latin typeface="Times New Roman" panose="02020603050405020304" pitchFamily="18" charset="0"/>
                <a:cs typeface="Times New Roman" panose="02020603050405020304" pitchFamily="18" charset="0"/>
              </a:rPr>
              <a:t> et al., </a:t>
            </a:r>
            <a:r>
              <a:rPr lang="en-GB" sz="2000" b="1" dirty="0">
                <a:solidFill>
                  <a:schemeClr val="tx1"/>
                </a:solidFill>
                <a:latin typeface="Times New Roman" panose="02020603050405020304" pitchFamily="18" charset="0"/>
                <a:cs typeface="Times New Roman" panose="02020603050405020304" pitchFamily="18" charset="0"/>
              </a:rPr>
              <a:t>Remote Laboratory for IoT Development and Learning Analytics</a:t>
            </a:r>
            <a:r>
              <a:rPr lang="en-GB" sz="2000" dirty="0">
                <a:solidFill>
                  <a:schemeClr val="tx1"/>
                </a:solidFill>
                <a:latin typeface="Times New Roman" panose="02020603050405020304" pitchFamily="18" charset="0"/>
                <a:cs typeface="Times New Roman" panose="02020603050405020304" pitchFamily="18" charset="0"/>
              </a:rPr>
              <a:t>, </a:t>
            </a:r>
            <a:r>
              <a:rPr lang="en-GB" sz="2000" dirty="0" err="1">
                <a:solidFill>
                  <a:schemeClr val="tx1"/>
                </a:solidFill>
                <a:latin typeface="Times New Roman" panose="02020603050405020304" pitchFamily="18" charset="0"/>
                <a:cs typeface="Times New Roman" panose="02020603050405020304" pitchFamily="18" charset="0"/>
              </a:rPr>
              <a:t>arXiv</a:t>
            </a:r>
            <a:r>
              <a:rPr lang="en-GB" sz="2000" dirty="0">
                <a:solidFill>
                  <a:schemeClr val="tx1"/>
                </a:solidFill>
                <a:latin typeface="Times New Roman" panose="02020603050405020304" pitchFamily="18" charset="0"/>
                <a:cs typeface="Times New Roman" panose="02020603050405020304" pitchFamily="18" charset="0"/>
              </a:rPr>
              <a:t>, Article 2402.05466, </a:t>
            </a:r>
            <a:r>
              <a:rPr lang="en-GB" sz="2000" b="1" dirty="0">
                <a:solidFill>
                  <a:schemeClr val="tx1"/>
                </a:solidFill>
                <a:latin typeface="Times New Roman" panose="02020603050405020304" pitchFamily="18" charset="0"/>
                <a:cs typeface="Times New Roman" panose="02020603050405020304" pitchFamily="18" charset="0"/>
              </a:rPr>
              <a:t>2024</a:t>
            </a:r>
            <a:r>
              <a:rPr lang="en-GB" sz="2000" dirty="0">
                <a:solidFill>
                  <a:schemeClr val="tx1"/>
                </a:solidFill>
                <a:latin typeface="Times New Roman" panose="02020603050405020304" pitchFamily="18" charset="0"/>
                <a:cs typeface="Times New Roman" panose="02020603050405020304" pitchFamily="18" charset="0"/>
              </a:rPr>
              <a:t>.</a:t>
            </a:r>
          </a:p>
          <a:p>
            <a:pPr algn="just">
              <a:buClr>
                <a:schemeClr val="tx1"/>
              </a:buClr>
              <a:buFont typeface="+mj-lt"/>
              <a:buAutoNum type="arabicPeriod"/>
            </a:pPr>
            <a:r>
              <a:rPr lang="en-US" altLang="en-US" sz="2000" dirty="0">
                <a:solidFill>
                  <a:schemeClr val="tx1"/>
                </a:solidFill>
                <a:latin typeface="Times New Roman" panose="02020603050405020304" pitchFamily="18" charset="0"/>
                <a:cs typeface="Times New Roman" panose="02020603050405020304" pitchFamily="18" charset="0"/>
              </a:rPr>
              <a:t>Mohankumar A. et al., </a:t>
            </a:r>
            <a:r>
              <a:rPr lang="en-US" altLang="en-US" sz="2000" b="1" dirty="0">
                <a:solidFill>
                  <a:schemeClr val="tx1"/>
                </a:solidFill>
                <a:latin typeface="Times New Roman" panose="02020603050405020304" pitchFamily="18" charset="0"/>
                <a:cs typeface="Times New Roman" panose="02020603050405020304" pitchFamily="18" charset="0"/>
              </a:rPr>
              <a:t>Wireless Smart Lighting System</a:t>
            </a:r>
            <a:r>
              <a:rPr lang="en-US" altLang="en-US" sz="2000" dirty="0">
                <a:solidFill>
                  <a:schemeClr val="tx1"/>
                </a:solidFill>
                <a:latin typeface="Times New Roman" panose="02020603050405020304" pitchFamily="18" charset="0"/>
                <a:cs typeface="Times New Roman" panose="02020603050405020304" pitchFamily="18" charset="0"/>
              </a:rPr>
              <a:t>, AJAST, Vol. 10, Article 8318, </a:t>
            </a:r>
            <a:r>
              <a:rPr lang="en-US" altLang="en-US" sz="2000" b="1" dirty="0">
                <a:solidFill>
                  <a:schemeClr val="tx1"/>
                </a:solidFill>
                <a:latin typeface="Times New Roman" panose="02020603050405020304" pitchFamily="18" charset="0"/>
                <a:cs typeface="Times New Roman" panose="02020603050405020304" pitchFamily="18" charset="0"/>
              </a:rPr>
              <a:t>2024</a:t>
            </a:r>
            <a:r>
              <a:rPr lang="en-US" alt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a:p>
            <a:pPr algn="just">
              <a:buClr>
                <a:schemeClr val="tx1"/>
              </a:buClr>
              <a:buFont typeface="+mj-lt"/>
              <a:buAutoNum type="arabicPeriod"/>
            </a:pPr>
            <a:r>
              <a:rPr lang="en-US" altLang="en-US" sz="2000" dirty="0" err="1">
                <a:solidFill>
                  <a:schemeClr val="tx1"/>
                </a:solidFill>
                <a:latin typeface="Times New Roman" panose="02020603050405020304" pitchFamily="18" charset="0"/>
                <a:cs typeface="Times New Roman" panose="02020603050405020304" pitchFamily="18" charset="0"/>
              </a:rPr>
              <a:t>Banagar</a:t>
            </a:r>
            <a:r>
              <a:rPr lang="en-US" altLang="en-US" sz="2000" dirty="0">
                <a:solidFill>
                  <a:schemeClr val="tx1"/>
                </a:solidFill>
                <a:latin typeface="Times New Roman" panose="02020603050405020304" pitchFamily="18" charset="0"/>
                <a:cs typeface="Times New Roman" panose="02020603050405020304" pitchFamily="18" charset="0"/>
              </a:rPr>
              <a:t> A.N. et al., </a:t>
            </a:r>
            <a:r>
              <a:rPr lang="en-US" altLang="en-US" sz="2000" b="1" dirty="0">
                <a:solidFill>
                  <a:schemeClr val="tx1"/>
                </a:solidFill>
                <a:latin typeface="Times New Roman" panose="02020603050405020304" pitchFamily="18" charset="0"/>
                <a:cs typeface="Times New Roman" panose="02020603050405020304" pitchFamily="18" charset="0"/>
              </a:rPr>
              <a:t>IoT-Based Smart Laboratory System</a:t>
            </a:r>
            <a:r>
              <a:rPr lang="en-US" altLang="en-US" sz="2000" dirty="0">
                <a:solidFill>
                  <a:schemeClr val="tx1"/>
                </a:solidFill>
                <a:latin typeface="Times New Roman" panose="02020603050405020304" pitchFamily="18" charset="0"/>
                <a:cs typeface="Times New Roman" panose="02020603050405020304" pitchFamily="18" charset="0"/>
              </a:rPr>
              <a:t>, IJERT, Vol. 9, Issue 1, Article IJERTV9IS010178, </a:t>
            </a:r>
            <a:r>
              <a:rPr lang="en-US" altLang="en-US" sz="2000" b="1" dirty="0">
                <a:solidFill>
                  <a:schemeClr val="tx1"/>
                </a:solidFill>
                <a:latin typeface="Times New Roman" panose="02020603050405020304" pitchFamily="18" charset="0"/>
                <a:cs typeface="Times New Roman" panose="02020603050405020304" pitchFamily="18" charset="0"/>
              </a:rPr>
              <a:t>2023</a:t>
            </a:r>
            <a:r>
              <a:rPr lang="en-US" altLang="en-US" sz="2000" dirty="0">
                <a:solidFill>
                  <a:schemeClr val="tx1"/>
                </a:solidFill>
                <a:latin typeface="Times New Roman" panose="02020603050405020304" pitchFamily="18" charset="0"/>
                <a:cs typeface="Times New Roman" panose="02020603050405020304" pitchFamily="18" charset="0"/>
              </a:rPr>
              <a:t>.</a:t>
            </a:r>
          </a:p>
          <a:p>
            <a:pPr algn="just">
              <a:buClr>
                <a:schemeClr val="tx1"/>
              </a:buClr>
              <a:buFont typeface="+mj-lt"/>
              <a:buAutoNum type="arabicPeriod"/>
            </a:pPr>
            <a:r>
              <a:rPr lang="en-GB" sz="2000" dirty="0">
                <a:solidFill>
                  <a:schemeClr val="tx1"/>
                </a:solidFill>
                <a:latin typeface="Times New Roman" panose="02020603050405020304" pitchFamily="18" charset="0"/>
                <a:cs typeface="Times New Roman" panose="02020603050405020304" pitchFamily="18" charset="0"/>
              </a:rPr>
              <a:t>Al Shahrani A.M. et al., </a:t>
            </a:r>
            <a:r>
              <a:rPr lang="en-GB" sz="2000" b="1" dirty="0">
                <a:solidFill>
                  <a:schemeClr val="tx1"/>
                </a:solidFill>
                <a:latin typeface="Times New Roman" panose="02020603050405020304" pitchFamily="18" charset="0"/>
                <a:cs typeface="Times New Roman" panose="02020603050405020304" pitchFamily="18" charset="0"/>
              </a:rPr>
              <a:t>Machine Learning-Enabled Smart Industrial Automation Systems Using IoT</a:t>
            </a:r>
            <a:r>
              <a:rPr lang="en-GB" sz="2000" dirty="0">
                <a:solidFill>
                  <a:schemeClr val="tx1"/>
                </a:solidFill>
                <a:latin typeface="Times New Roman" panose="02020603050405020304" pitchFamily="18" charset="0"/>
                <a:cs typeface="Times New Roman" panose="02020603050405020304" pitchFamily="18" charset="0"/>
              </a:rPr>
              <a:t> </a:t>
            </a:r>
            <a:r>
              <a:rPr lang="en-GB" sz="2000" b="1" dirty="0">
                <a:solidFill>
                  <a:schemeClr val="tx1"/>
                </a:solidFill>
                <a:latin typeface="Times New Roman" panose="02020603050405020304" pitchFamily="18" charset="0"/>
                <a:cs typeface="Times New Roman" panose="02020603050405020304" pitchFamily="18" charset="0"/>
              </a:rPr>
              <a:t>Sensors</a:t>
            </a:r>
            <a:r>
              <a:rPr lang="en-GB" sz="2000" dirty="0">
                <a:solidFill>
                  <a:schemeClr val="tx1"/>
                </a:solidFill>
                <a:latin typeface="Times New Roman" panose="02020603050405020304" pitchFamily="18" charset="0"/>
                <a:cs typeface="Times New Roman" panose="02020603050405020304" pitchFamily="18" charset="0"/>
              </a:rPr>
              <a:t>, MDPI, Vol. 23, Issue 1, Article 324,</a:t>
            </a:r>
            <a:r>
              <a:rPr lang="en-GB" sz="2000" b="1" dirty="0">
                <a:solidFill>
                  <a:schemeClr val="tx1"/>
                </a:solidFill>
                <a:latin typeface="Times New Roman" panose="02020603050405020304" pitchFamily="18" charset="0"/>
                <a:cs typeface="Times New Roman" panose="02020603050405020304" pitchFamily="18" charset="0"/>
              </a:rPr>
              <a:t> 2023</a:t>
            </a:r>
            <a:r>
              <a:rPr lang="en-GB"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pPr algn="just"/>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12" name="Rectangle 9">
            <a:extLst>
              <a:ext uri="{FF2B5EF4-FFF2-40B4-BE49-F238E27FC236}">
                <a16:creationId xmlns:a16="http://schemas.microsoft.com/office/drawing/2014/main" id="{BC4D5E6D-E729-C8D2-996E-707A07A6110F}"/>
              </a:ext>
            </a:extLst>
          </p:cNvPr>
          <p:cNvSpPr>
            <a:spLocks noChangeArrowheads="1"/>
          </p:cNvSpPr>
          <p:nvPr/>
        </p:nvSpPr>
        <p:spPr bwMode="auto">
          <a:xfrm>
            <a:off x="0" y="-323165"/>
            <a:ext cx="5052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82627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C593449-C992-C6F9-7C61-6D24A4E56AAC}"/>
              </a:ext>
            </a:extLst>
          </p:cNvPr>
          <p:cNvSpPr>
            <a:spLocks noGrp="1"/>
          </p:cNvSpPr>
          <p:nvPr>
            <p:ph idx="1"/>
          </p:nvPr>
        </p:nvSpPr>
        <p:spPr>
          <a:xfrm>
            <a:off x="835179" y="833233"/>
            <a:ext cx="8596312" cy="4936631"/>
          </a:xfrm>
        </p:spPr>
        <p:txBody>
          <a:bodyPr>
            <a:noAutofit/>
          </a:bodyPr>
          <a:lstStyle/>
          <a:p>
            <a:pPr algn="just">
              <a:buClr>
                <a:schemeClr val="tx1"/>
              </a:buClr>
              <a:buFont typeface="+mj-lt"/>
              <a:buAutoNum type="arabicPeriod" startAt="6"/>
            </a:pPr>
            <a:r>
              <a:rPr lang="en-GB" sz="2000" dirty="0">
                <a:solidFill>
                  <a:schemeClr val="tx1"/>
                </a:solidFill>
                <a:latin typeface="Times New Roman" panose="02020603050405020304" pitchFamily="18" charset="0"/>
                <a:cs typeface="Times New Roman" panose="02020603050405020304" pitchFamily="18" charset="0"/>
              </a:rPr>
              <a:t>Rastogi A.K. et al., </a:t>
            </a:r>
            <a:r>
              <a:rPr lang="en-GB" sz="2000" b="1" dirty="0">
                <a:solidFill>
                  <a:schemeClr val="tx1"/>
                </a:solidFill>
                <a:latin typeface="Times New Roman" panose="02020603050405020304" pitchFamily="18" charset="0"/>
                <a:cs typeface="Times New Roman" panose="02020603050405020304" pitchFamily="18" charset="0"/>
              </a:rPr>
              <a:t>Internet of Things Enabled Machine Learning-Based Smart Systems: A Bird’s Eye View, Engineering Proceedings</a:t>
            </a:r>
            <a:r>
              <a:rPr lang="en-GB" sz="2000" dirty="0">
                <a:solidFill>
                  <a:schemeClr val="tx1"/>
                </a:solidFill>
                <a:latin typeface="Times New Roman" panose="02020603050405020304" pitchFamily="18" charset="0"/>
                <a:cs typeface="Times New Roman" panose="02020603050405020304" pitchFamily="18" charset="0"/>
              </a:rPr>
              <a:t>, MDPI, Vol. 59, Article 36, </a:t>
            </a:r>
            <a:r>
              <a:rPr lang="en-GB" sz="2000" b="1" dirty="0">
                <a:solidFill>
                  <a:schemeClr val="tx1"/>
                </a:solidFill>
                <a:latin typeface="Times New Roman" panose="02020603050405020304" pitchFamily="18" charset="0"/>
                <a:cs typeface="Times New Roman" panose="02020603050405020304" pitchFamily="18" charset="0"/>
              </a:rPr>
              <a:t>2023</a:t>
            </a:r>
            <a:r>
              <a:rPr lang="en-GB" sz="2000" dirty="0">
                <a:solidFill>
                  <a:schemeClr val="tx1"/>
                </a:solidFill>
                <a:latin typeface="Times New Roman" panose="02020603050405020304" pitchFamily="18" charset="0"/>
                <a:cs typeface="Times New Roman" panose="02020603050405020304" pitchFamily="18" charset="0"/>
              </a:rPr>
              <a:t>.</a:t>
            </a:r>
          </a:p>
          <a:p>
            <a:pPr algn="just">
              <a:buClr>
                <a:schemeClr val="tx1"/>
              </a:buClr>
              <a:buFont typeface="+mj-lt"/>
              <a:buAutoNum type="arabicPeriod" startAt="6"/>
            </a:pPr>
            <a:r>
              <a:rPr lang="en-US" altLang="en-US" sz="2000" dirty="0">
                <a:solidFill>
                  <a:schemeClr val="tx1"/>
                </a:solidFill>
                <a:latin typeface="Times New Roman" panose="02020603050405020304" pitchFamily="18" charset="0"/>
                <a:cs typeface="Times New Roman" panose="02020603050405020304" pitchFamily="18" charset="0"/>
              </a:rPr>
              <a:t>Sudhakaran P. et al., </a:t>
            </a:r>
            <a:r>
              <a:rPr lang="en-US" altLang="en-US" sz="2000" b="1" i="1" dirty="0">
                <a:solidFill>
                  <a:schemeClr val="tx1"/>
                </a:solidFill>
                <a:latin typeface="Times New Roman" panose="02020603050405020304" pitchFamily="18" charset="0"/>
                <a:cs typeface="Times New Roman" panose="02020603050405020304" pitchFamily="18" charset="0"/>
              </a:rPr>
              <a:t>A Secured Smart Automation System for Computer Labs in Engineering Colleges Using IoT</a:t>
            </a:r>
            <a:r>
              <a:rPr lang="en-US" altLang="en-US" sz="2000" dirty="0">
                <a:solidFill>
                  <a:schemeClr val="tx1"/>
                </a:solidFill>
                <a:latin typeface="Times New Roman" panose="02020603050405020304" pitchFamily="18" charset="0"/>
                <a:cs typeface="Times New Roman" panose="02020603050405020304" pitchFamily="18" charset="0"/>
              </a:rPr>
              <a:t>, Computer Applications in Engineering Education, Wiley, Vol. 30, Issue 2, Article CAE.22226, </a:t>
            </a:r>
            <a:r>
              <a:rPr lang="en-US" altLang="en-US" sz="2000" b="1" dirty="0">
                <a:solidFill>
                  <a:schemeClr val="tx1"/>
                </a:solidFill>
                <a:latin typeface="Times New Roman" panose="02020603050405020304" pitchFamily="18" charset="0"/>
                <a:cs typeface="Times New Roman" panose="02020603050405020304" pitchFamily="18" charset="0"/>
              </a:rPr>
              <a:t>2022</a:t>
            </a:r>
            <a:r>
              <a:rPr lang="en-US" altLang="en-US" sz="2000" dirty="0">
                <a:solidFill>
                  <a:schemeClr val="tx1"/>
                </a:solidFill>
                <a:latin typeface="Times New Roman" panose="02020603050405020304" pitchFamily="18" charset="0"/>
                <a:cs typeface="Times New Roman" panose="02020603050405020304" pitchFamily="18" charset="0"/>
              </a:rPr>
              <a:t>. </a:t>
            </a:r>
            <a:endParaRPr lang="en-US" sz="2000" dirty="0">
              <a:solidFill>
                <a:schemeClr val="tx1"/>
              </a:solidFill>
              <a:latin typeface="Times New Roman" panose="02020603050405020304" pitchFamily="18" charset="0"/>
              <a:cs typeface="Times New Roman" panose="02020603050405020304" pitchFamily="18" charset="0"/>
            </a:endParaRPr>
          </a:p>
          <a:p>
            <a:pPr algn="just">
              <a:buClr>
                <a:schemeClr val="tx1"/>
              </a:buClr>
              <a:buFont typeface="+mj-lt"/>
              <a:buAutoNum type="arabicPeriod" startAt="6"/>
            </a:pPr>
            <a:r>
              <a:rPr lang="en-US" altLang="en-US" sz="2000" dirty="0" err="1">
                <a:solidFill>
                  <a:schemeClr val="tx1"/>
                </a:solidFill>
                <a:latin typeface="Times New Roman" panose="02020603050405020304" pitchFamily="18" charset="0"/>
                <a:cs typeface="Times New Roman" panose="02020603050405020304" pitchFamily="18" charset="0"/>
              </a:rPr>
              <a:t>Raikwar</a:t>
            </a:r>
            <a:r>
              <a:rPr lang="en-US" altLang="en-US" sz="2000" dirty="0">
                <a:solidFill>
                  <a:schemeClr val="tx1"/>
                </a:solidFill>
                <a:latin typeface="Times New Roman" panose="02020603050405020304" pitchFamily="18" charset="0"/>
                <a:cs typeface="Times New Roman" panose="02020603050405020304" pitchFamily="18" charset="0"/>
              </a:rPr>
              <a:t> A. et al., </a:t>
            </a:r>
            <a:r>
              <a:rPr lang="en-US" altLang="en-US" sz="2000" b="1" dirty="0">
                <a:solidFill>
                  <a:schemeClr val="tx1"/>
                </a:solidFill>
                <a:latin typeface="Times New Roman" panose="02020603050405020304" pitchFamily="18" charset="0"/>
                <a:cs typeface="Times New Roman" panose="02020603050405020304" pitchFamily="18" charset="0"/>
              </a:rPr>
              <a:t>IoT-Based Smart Classroom Automation System,</a:t>
            </a:r>
            <a:r>
              <a:rPr lang="en-US" altLang="en-US" sz="2000" dirty="0">
                <a:solidFill>
                  <a:schemeClr val="tx1"/>
                </a:solidFill>
                <a:latin typeface="Times New Roman" panose="02020603050405020304" pitchFamily="18" charset="0"/>
                <a:cs typeface="Times New Roman" panose="02020603050405020304" pitchFamily="18" charset="0"/>
              </a:rPr>
              <a:t> IJARIIE, Vol. 9, Issue 2, Article 26185, </a:t>
            </a:r>
            <a:r>
              <a:rPr lang="en-US" altLang="en-US" sz="2000" b="1" dirty="0">
                <a:solidFill>
                  <a:schemeClr val="tx1"/>
                </a:solidFill>
                <a:latin typeface="Times New Roman" panose="02020603050405020304" pitchFamily="18" charset="0"/>
                <a:cs typeface="Times New Roman" panose="02020603050405020304" pitchFamily="18" charset="0"/>
              </a:rPr>
              <a:t>2022</a:t>
            </a:r>
            <a:r>
              <a:rPr lang="en-US" alt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a:p>
            <a:pPr algn="just">
              <a:buClr>
                <a:schemeClr val="tx1"/>
              </a:buClr>
              <a:buFont typeface="+mj-lt"/>
              <a:buAutoNum type="arabicPeriod" startAt="6"/>
            </a:pPr>
            <a:r>
              <a:rPr lang="en-US" altLang="en-US" sz="2000" dirty="0">
                <a:solidFill>
                  <a:schemeClr val="tx1"/>
                </a:solidFill>
                <a:latin typeface="Times New Roman" panose="02020603050405020304" pitchFamily="18" charset="0"/>
                <a:cs typeface="Times New Roman" panose="02020603050405020304" pitchFamily="18" charset="0"/>
              </a:rPr>
              <a:t>Kulkarni T. et al., </a:t>
            </a:r>
            <a:r>
              <a:rPr lang="en-US" altLang="en-US" sz="2000" b="1" i="1" dirty="0">
                <a:solidFill>
                  <a:schemeClr val="tx1"/>
                </a:solidFill>
                <a:latin typeface="Times New Roman" panose="02020603050405020304" pitchFamily="18" charset="0"/>
                <a:cs typeface="Times New Roman" panose="02020603050405020304" pitchFamily="18" charset="0"/>
              </a:rPr>
              <a:t>AI-Based Smart Lab Monitoring System</a:t>
            </a:r>
            <a:r>
              <a:rPr lang="en-US" altLang="en-US" sz="2000" dirty="0">
                <a:solidFill>
                  <a:schemeClr val="tx1"/>
                </a:solidFill>
                <a:latin typeface="Times New Roman" panose="02020603050405020304" pitchFamily="18" charset="0"/>
                <a:cs typeface="Times New Roman" panose="02020603050405020304" pitchFamily="18" charset="0"/>
              </a:rPr>
              <a:t>, IJRASET, Vol. 10, Issue 12, Article 71868, </a:t>
            </a:r>
            <a:r>
              <a:rPr lang="en-US" altLang="en-US" sz="2000" b="1" dirty="0">
                <a:solidFill>
                  <a:schemeClr val="tx1"/>
                </a:solidFill>
                <a:latin typeface="Times New Roman" panose="02020603050405020304" pitchFamily="18" charset="0"/>
                <a:cs typeface="Times New Roman" panose="02020603050405020304" pitchFamily="18" charset="0"/>
              </a:rPr>
              <a:t>2021.</a:t>
            </a:r>
            <a:endParaRPr lang="en-US" sz="2000" b="1" dirty="0">
              <a:solidFill>
                <a:schemeClr val="tx1"/>
              </a:solidFill>
              <a:latin typeface="Times New Roman" panose="02020603050405020304" pitchFamily="18" charset="0"/>
              <a:cs typeface="Times New Roman" panose="02020603050405020304" pitchFamily="18" charset="0"/>
            </a:endParaRPr>
          </a:p>
          <a:p>
            <a:pPr algn="just">
              <a:buClr>
                <a:schemeClr val="tx1"/>
              </a:buClr>
              <a:buFont typeface="+mj-lt"/>
              <a:buAutoNum type="arabicPeriod" startAt="6"/>
            </a:pPr>
            <a:r>
              <a:rPr lang="en-US" altLang="en-US" sz="2000" dirty="0">
                <a:solidFill>
                  <a:schemeClr val="tx1"/>
                </a:solidFill>
                <a:latin typeface="Times New Roman" panose="02020603050405020304" pitchFamily="18" charset="0"/>
                <a:cs typeface="Times New Roman" panose="02020603050405020304" pitchFamily="18" charset="0"/>
              </a:rPr>
              <a:t>Prathima S. et al</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b="1" i="1" dirty="0">
                <a:solidFill>
                  <a:schemeClr val="tx1"/>
                </a:solidFill>
                <a:latin typeface="Times New Roman" panose="02020603050405020304" pitchFamily="18" charset="0"/>
                <a:cs typeface="Times New Roman" panose="02020603050405020304" pitchFamily="18" charset="0"/>
              </a:rPr>
              <a:t>Smart Lab with Automated Access</a:t>
            </a:r>
            <a:r>
              <a:rPr lang="en-US" altLang="en-US" sz="2000" dirty="0">
                <a:solidFill>
                  <a:schemeClr val="tx1"/>
                </a:solidFill>
                <a:latin typeface="Times New Roman" panose="02020603050405020304" pitchFamily="18" charset="0"/>
                <a:cs typeface="Times New Roman" panose="02020603050405020304" pitchFamily="18" charset="0"/>
              </a:rPr>
              <a:t>, IJSMS, Vol. 3, Issue 3, Article IJSMS-V3I3P108, </a:t>
            </a:r>
            <a:r>
              <a:rPr lang="en-US" altLang="en-US" sz="2000" b="1" dirty="0">
                <a:solidFill>
                  <a:schemeClr val="tx1"/>
                </a:solidFill>
                <a:latin typeface="Times New Roman" panose="02020603050405020304" pitchFamily="18" charset="0"/>
                <a:cs typeface="Times New Roman" panose="02020603050405020304" pitchFamily="18" charset="0"/>
              </a:rPr>
              <a:t>2020. </a:t>
            </a:r>
          </a:p>
          <a:p>
            <a:pPr>
              <a:buClr>
                <a:schemeClr val="tx1"/>
              </a:buClr>
              <a:buFont typeface="+mj-lt"/>
              <a:buAutoNum type="arabicPeriod" startAt="6"/>
            </a:pPr>
            <a:endParaRPr lang="en-US" dirty="0">
              <a:solidFill>
                <a:schemeClr val="tx1"/>
              </a:solidFill>
            </a:endParaRPr>
          </a:p>
          <a:p>
            <a:pPr>
              <a:buClr>
                <a:schemeClr val="tx1"/>
              </a:buClr>
              <a:buFont typeface="+mj-lt"/>
              <a:buAutoNum type="arabicPeriod" startAt="6"/>
            </a:pPr>
            <a:endParaRPr lang="en-US" dirty="0">
              <a:solidFill>
                <a:schemeClr val="tx1"/>
              </a:solidFill>
            </a:endParaRPr>
          </a:p>
          <a:p>
            <a:pPr>
              <a:buClr>
                <a:schemeClr val="tx1"/>
              </a:buClr>
              <a:buFont typeface="+mj-lt"/>
              <a:buAutoNum type="arabicPeriod" startAt="6"/>
            </a:pPr>
            <a:endParaRPr lang="en-US" dirty="0">
              <a:solidFill>
                <a:schemeClr val="tx1"/>
              </a:solidFill>
            </a:endParaRPr>
          </a:p>
          <a:p>
            <a:pPr>
              <a:buClr>
                <a:schemeClr val="tx1"/>
              </a:buClr>
              <a:buFont typeface="+mj-lt"/>
              <a:buAutoNum type="arabicPeriod" startAt="6"/>
            </a:pPr>
            <a:endParaRPr lang="en-US" dirty="0">
              <a:solidFill>
                <a:schemeClr val="tx1"/>
              </a:solidFill>
            </a:endParaRPr>
          </a:p>
        </p:txBody>
      </p:sp>
    </p:spTree>
    <p:extLst>
      <p:ext uri="{BB962C8B-B14F-4D97-AF65-F5344CB8AC3E}">
        <p14:creationId xmlns:p14="http://schemas.microsoft.com/office/powerpoint/2010/main" val="35564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a:extLst>
              <a:ext uri="{FF2B5EF4-FFF2-40B4-BE49-F238E27FC236}">
                <a16:creationId xmlns:a16="http://schemas.microsoft.com/office/drawing/2014/main" id="{0E05822B-3C92-6728-6240-2BD5CCFA516A}"/>
              </a:ext>
            </a:extLst>
          </p:cNvPr>
          <p:cNvSpPr>
            <a:spLocks noChangeArrowheads="1"/>
          </p:cNvSpPr>
          <p:nvPr/>
        </p:nvSpPr>
        <p:spPr bwMode="auto">
          <a:xfrm>
            <a:off x="2111103" y="2773732"/>
            <a:ext cx="8229024" cy="11449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874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266" b="1">
                <a:solidFill>
                  <a:srgbClr val="000000"/>
                </a:solidFill>
                <a:latin typeface="Times New Roman" panose="02020603050405020304" pitchFamily="18" charset="0"/>
                <a:cs typeface="DejaVu Sans" panose="020B0603030804020204" pitchFamily="34" charset="0"/>
              </a:rPr>
              <a:t>Thank You...!!</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2361</TotalTime>
  <Words>1701</Words>
  <Application>Microsoft Office PowerPoint</Application>
  <PresentationFormat>Widescreen</PresentationFormat>
  <Paragraphs>231</Paragraphs>
  <Slides>22</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DejaVu Sans</vt:lpstr>
      <vt:lpstr>Source Sans Pro</vt:lpstr>
      <vt:lpstr>Times New Roman</vt:lpstr>
      <vt:lpstr>Trebuchet MS</vt:lpstr>
      <vt:lpstr>Wingdings</vt:lpstr>
      <vt:lpstr>Wingdings 3</vt:lpstr>
      <vt:lpstr>Facet</vt:lpstr>
      <vt:lpstr>PowerPoint Presentation</vt:lpstr>
      <vt:lpstr>PowerPoint Presentation</vt:lpstr>
      <vt:lpstr>PowerPoint Presentation</vt:lpstr>
      <vt:lpstr> Problem statement </vt:lpstr>
      <vt:lpstr>Objectives</vt:lpstr>
      <vt:lpstr>PowerPoint Presentation</vt:lpstr>
      <vt:lpstr>Block Diagram</vt:lpstr>
      <vt:lpstr>Literature Survey of the existing systems</vt:lpstr>
      <vt:lpstr>PowerPoint Presentation</vt:lpstr>
      <vt:lpstr>PowerPoint Presentation</vt:lpstr>
      <vt:lpstr>Limitations of the existing systems </vt:lpstr>
      <vt:lpstr>Implementation</vt:lpstr>
      <vt:lpstr>Implementation</vt:lpstr>
      <vt:lpstr>Implementation</vt:lpstr>
      <vt:lpstr>PowerPoint Presentation</vt:lpstr>
      <vt:lpstr>Technologies Stack</vt:lpstr>
      <vt:lpstr>Technologies Stack</vt:lpstr>
      <vt:lpstr>PowerPoint Presentation</vt:lpstr>
      <vt:lpstr>Future Work</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shraavani salunkhe</dc:creator>
  <cp:lastModifiedBy>Jay Patil</cp:lastModifiedBy>
  <cp:revision>9</cp:revision>
  <dcterms:created xsi:type="dcterms:W3CDTF">2025-03-31T06:58:03Z</dcterms:created>
  <dcterms:modified xsi:type="dcterms:W3CDTF">2025-10-31T00:55:30Z</dcterms:modified>
</cp:coreProperties>
</file>